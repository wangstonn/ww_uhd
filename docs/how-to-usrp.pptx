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3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4"/>
  </p:notesMasterIdLst>
  <p:sldIdLst>
    <p:sldId id="256" r:id="rId2"/>
    <p:sldId id="257" r:id="rId3"/>
    <p:sldId id="323" r:id="rId4"/>
    <p:sldId id="324" r:id="rId5"/>
    <p:sldId id="326" r:id="rId6"/>
    <p:sldId id="327" r:id="rId7"/>
    <p:sldId id="330" r:id="rId8"/>
    <p:sldId id="325" r:id="rId9"/>
    <p:sldId id="876" r:id="rId10"/>
    <p:sldId id="871" r:id="rId11"/>
    <p:sldId id="877" r:id="rId12"/>
    <p:sldId id="881" r:id="rId13"/>
    <p:sldId id="868" r:id="rId14"/>
    <p:sldId id="883" r:id="rId15"/>
    <p:sldId id="882" r:id="rId16"/>
    <p:sldId id="884" r:id="rId17"/>
    <p:sldId id="873" r:id="rId18"/>
    <p:sldId id="880" r:id="rId19"/>
    <p:sldId id="335" r:id="rId20"/>
    <p:sldId id="988" r:id="rId21"/>
    <p:sldId id="886" r:id="rId22"/>
    <p:sldId id="987" r:id="rId23"/>
    <p:sldId id="1001" r:id="rId24"/>
    <p:sldId id="885" r:id="rId25"/>
    <p:sldId id="332" r:id="rId26"/>
    <p:sldId id="336" r:id="rId27"/>
    <p:sldId id="994" r:id="rId28"/>
    <p:sldId id="864" r:id="rId29"/>
    <p:sldId id="990" r:id="rId30"/>
    <p:sldId id="991" r:id="rId31"/>
    <p:sldId id="992" r:id="rId32"/>
    <p:sldId id="993" r:id="rId33"/>
    <p:sldId id="997" r:id="rId34"/>
    <p:sldId id="854" r:id="rId35"/>
    <p:sldId id="337" r:id="rId36"/>
    <p:sldId id="338" r:id="rId37"/>
    <p:sldId id="995" r:id="rId38"/>
    <p:sldId id="983" r:id="rId39"/>
    <p:sldId id="989" r:id="rId40"/>
    <p:sldId id="984" r:id="rId41"/>
    <p:sldId id="339" r:id="rId42"/>
    <p:sldId id="341" r:id="rId43"/>
    <p:sldId id="1000" r:id="rId44"/>
    <p:sldId id="1004" r:id="rId45"/>
    <p:sldId id="1003" r:id="rId46"/>
    <p:sldId id="331" r:id="rId47"/>
    <p:sldId id="342" r:id="rId48"/>
    <p:sldId id="857" r:id="rId49"/>
    <p:sldId id="855" r:id="rId50"/>
    <p:sldId id="340" r:id="rId51"/>
    <p:sldId id="859" r:id="rId52"/>
    <p:sldId id="860" r:id="rId53"/>
    <p:sldId id="858" r:id="rId54"/>
    <p:sldId id="861" r:id="rId55"/>
    <p:sldId id="862" r:id="rId56"/>
    <p:sldId id="863" r:id="rId57"/>
    <p:sldId id="322" r:id="rId58"/>
    <p:sldId id="1014" r:id="rId59"/>
    <p:sldId id="1015" r:id="rId60"/>
    <p:sldId id="1016" r:id="rId61"/>
    <p:sldId id="851" r:id="rId62"/>
    <p:sldId id="852" r:id="rId63"/>
    <p:sldId id="887" r:id="rId64"/>
    <p:sldId id="919" r:id="rId65"/>
    <p:sldId id="921" r:id="rId66"/>
    <p:sldId id="1005" r:id="rId67"/>
    <p:sldId id="1008" r:id="rId68"/>
    <p:sldId id="1013" r:id="rId69"/>
    <p:sldId id="978" r:id="rId70"/>
    <p:sldId id="996" r:id="rId71"/>
    <p:sldId id="1002" r:id="rId72"/>
    <p:sldId id="1006" r:id="rId73"/>
    <p:sldId id="979" r:id="rId74"/>
    <p:sldId id="980" r:id="rId75"/>
    <p:sldId id="872" r:id="rId76"/>
    <p:sldId id="999" r:id="rId77"/>
    <p:sldId id="866" r:id="rId78"/>
    <p:sldId id="869" r:id="rId79"/>
    <p:sldId id="345" r:id="rId80"/>
    <p:sldId id="344" r:id="rId81"/>
    <p:sldId id="853" r:id="rId82"/>
    <p:sldId id="998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952F7C65-DA76-4B48-A2EF-5820B7799EC5}">
          <p14:sldIdLst>
            <p14:sldId id="256"/>
            <p14:sldId id="257"/>
            <p14:sldId id="323"/>
            <p14:sldId id="324"/>
            <p14:sldId id="326"/>
            <p14:sldId id="327"/>
            <p14:sldId id="330"/>
            <p14:sldId id="325"/>
            <p14:sldId id="876"/>
            <p14:sldId id="871"/>
            <p14:sldId id="877"/>
            <p14:sldId id="881"/>
            <p14:sldId id="868"/>
            <p14:sldId id="883"/>
            <p14:sldId id="882"/>
            <p14:sldId id="884"/>
            <p14:sldId id="873"/>
            <p14:sldId id="880"/>
          </p14:sldIdLst>
        </p14:section>
        <p14:section name="File setup" id="{0A26B2B4-CC88-4187-8B6A-1D7BB969BE23}">
          <p14:sldIdLst>
            <p14:sldId id="335"/>
            <p14:sldId id="988"/>
            <p14:sldId id="886"/>
            <p14:sldId id="987"/>
            <p14:sldId id="1001"/>
            <p14:sldId id="885"/>
            <p14:sldId id="332"/>
            <p14:sldId id="336"/>
            <p14:sldId id="994"/>
            <p14:sldId id="864"/>
          </p14:sldIdLst>
        </p14:section>
        <p14:section name="Verilog" id="{B763E467-9F90-4489-9470-CE16D58FACB2}">
          <p14:sldIdLst>
            <p14:sldId id="990"/>
            <p14:sldId id="991"/>
            <p14:sldId id="992"/>
            <p14:sldId id="993"/>
            <p14:sldId id="997"/>
            <p14:sldId id="854"/>
            <p14:sldId id="337"/>
            <p14:sldId id="338"/>
            <p14:sldId id="995"/>
          </p14:sldIdLst>
        </p14:section>
        <p14:section name="IP" id="{65584DCC-038D-45A7-9A16-93C0DA6E0D77}">
          <p14:sldIdLst>
            <p14:sldId id="983"/>
            <p14:sldId id="989"/>
            <p14:sldId id="984"/>
          </p14:sldIdLst>
        </p14:section>
        <p14:section name="UHD Setup" id="{B5689890-E480-4B25-83C1-7D7A8F9C2D39}">
          <p14:sldIdLst>
            <p14:sldId id="339"/>
            <p14:sldId id="341"/>
            <p14:sldId id="1000"/>
            <p14:sldId id="1004"/>
            <p14:sldId id="1003"/>
            <p14:sldId id="331"/>
            <p14:sldId id="342"/>
          </p14:sldIdLst>
        </p14:section>
        <p14:section name="Make" id="{17F22DFD-60F2-452C-9AAD-3BF4144E04ED}">
          <p14:sldIdLst>
            <p14:sldId id="857"/>
            <p14:sldId id="855"/>
            <p14:sldId id="340"/>
          </p14:sldIdLst>
        </p14:section>
        <p14:section name="CMake" id="{312AF557-9FA5-45CB-B7E0-F1AFD1A46AD5}">
          <p14:sldIdLst>
            <p14:sldId id="859"/>
            <p14:sldId id="860"/>
            <p14:sldId id="858"/>
            <p14:sldId id="861"/>
            <p14:sldId id="862"/>
            <p14:sldId id="863"/>
            <p14:sldId id="322"/>
          </p14:sldIdLst>
        </p14:section>
        <p14:section name="GNU Radio" id="{8026791F-2ACC-4890-9CF9-6073521FC6C8}">
          <p14:sldIdLst>
            <p14:sldId id="1014"/>
            <p14:sldId id="1015"/>
            <p14:sldId id="1016"/>
          </p14:sldIdLst>
        </p14:section>
        <p14:section name="Experimental Info" id="{27A6F7FD-A574-4BDC-8306-DE9DA329EA6C}">
          <p14:sldIdLst>
            <p14:sldId id="851"/>
            <p14:sldId id="852"/>
            <p14:sldId id="887"/>
            <p14:sldId id="919"/>
            <p14:sldId id="921"/>
            <p14:sldId id="1005"/>
            <p14:sldId id="1008"/>
            <p14:sldId id="1013"/>
            <p14:sldId id="978"/>
            <p14:sldId id="996"/>
            <p14:sldId id="1002"/>
          </p14:sldIdLst>
        </p14:section>
        <p14:section name="Untitled Section" id="{1AE6D1B1-034F-41C5-8AA9-246E86385608}">
          <p14:sldIdLst>
            <p14:sldId id="1006"/>
            <p14:sldId id="979"/>
            <p14:sldId id="980"/>
            <p14:sldId id="872"/>
            <p14:sldId id="999"/>
            <p14:sldId id="866"/>
            <p14:sldId id="869"/>
            <p14:sldId id="345"/>
            <p14:sldId id="344"/>
            <p14:sldId id="853"/>
            <p14:sldId id="9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1103" autoAdjust="0"/>
  </p:normalViewPr>
  <p:slideViewPr>
    <p:cSldViewPr snapToGrid="0">
      <p:cViewPr varScale="1">
        <p:scale>
          <a:sx n="96" d="100"/>
          <a:sy n="96" d="100"/>
        </p:scale>
        <p:origin x="375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18T19:02:51.57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0 298,'8'-1,"0"0,0 0,-1-1,1 0,8-4,26-5,34 4,86 2,28-1,426-12,-561 16,72-13,-15 1,-5 2,114-5,464 41,0-15,-404-12,63-12,15 0,917 16,-921-19,-189 6,121-16,107-4,-181 33,275-12,178-4,-177 11,-290-10,76-1,50 0,26 0,491 16,-822-1,0 2,0 0,24 6,-17-2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18T19:02:54.55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1,'2238'0,"-1987"14,-40 0,46-14,203 13,409 8,-565-24,-142 1,182 5,-182 11,59 1,445-17,309 4,-222 40,-436-20,1249 3,-1071-27,2130 2,-2420-15,2 0,-84 16,-98-1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01-18T18:54:11.5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0 179,'4'-1,"-1"0,0 0,1-1,-1 1,0-1,0 1,0-1,0 0,0-1,0 1,4-5,21-13,18 2,0 2,95-19,-78 29,1 2,93 7,-33 0,2651-3,-2590-16,-67 2,533-17,3374 32,-3734 15,13 0,1296-17,-1367 15,15 2,481-17,-684 3,63 11,-62-6,57 1,-45-8,-33-1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71371E-0AB0-4E1B-9F79-83C8F32365BE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A19DDD-B1BD-4DBB-A1A9-366082CC54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314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gnuradio.org/index.php/Main_Page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kb.ettus.com/UBX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s.ettus.com/manual/page_configuration.html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ttusResearch/uhd/blob/master/fpga/usrp3/top/x300/Makefile.x300.inc" TargetMode="External"/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https://wiki.gnuradio.org/index.php/Main_Page</a:t>
            </a:r>
            <a:endParaRPr lang="en-US" dirty="0"/>
          </a:p>
          <a:p>
            <a:endParaRPr lang="en-US" dirty="0"/>
          </a:p>
          <a:p>
            <a:r>
              <a:rPr lang="en-US" dirty="0"/>
              <a:t>https://drive.google.com/file/d/0B6ccrJyAZaq3MTRDbmVUR0gwVU0/view?resourcekey=0-jXgCyj_rLFC8Bk699QjBiw </a:t>
            </a:r>
          </a:p>
          <a:p>
            <a:r>
              <a:rPr lang="en-US" dirty="0"/>
              <a:t>https://kb.ettus.com/images/e/eb/RFNoC_Wireless_at_VirginiaTech_2014_Intro.pdf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20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https://kb.ettus.com/RFNoC_(UHD_3.0)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4837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https://kb.ettus.com/images/7/78/RFNoC_Wireless_at_VirginiaTech_2014_FPGA.pdf</a:t>
            </a:r>
          </a:p>
          <a:p>
            <a:r>
              <a:rPr lang="en-US"/>
              <a:t>https://www.gnuradio.org/grcon/grcon17/presentations/applications_and_extensions_of_gnuradio_at_APL/Jarriel-Cook-Measured-Latency-Introduced-by-RFNoC-Architecture.pdf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730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https://github.com/EttusResearch/uhd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559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https://kb.ettus.com/UHD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507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https://kb.ettus.com/UBX</a:t>
            </a:r>
            <a:endParaRPr lang="en-US" dirty="0"/>
          </a:p>
          <a:p>
            <a:r>
              <a:rPr lang="en-US" dirty="0"/>
              <a:t>https://files.ettus.com/manual/page_dboards.html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1320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https://en.wikipedia.org/wiki/ISM_radio_band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5824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https://files.ettus.com/manual/page_gpio_api.html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337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https://files.ettus.com/manual/page_configuration.html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6457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https://docs.xilinx.com/v/u/en-US/xapp199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536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https://files.ettus.com/manual/md_usrp3_simulation.html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925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https://github.com/Wangstonn/ww_uhd/blob/master/fpga/usrp3/lib/rfnoc/dds_wrapper. v#L18</a:t>
            </a:r>
          </a:p>
          <a:p>
            <a:endParaRPr lang="en-US" dirty="0"/>
          </a:p>
          <a:p>
            <a:r>
              <a:rPr lang="en-US" dirty="0"/>
              <a:t>https://docs.xilinx.com/v/u/en-US/pg141-dds-compiler</a:t>
            </a:r>
          </a:p>
          <a:p>
            <a:endParaRPr lang="en-US" dirty="0"/>
          </a:p>
          <a:p>
            <a:r>
              <a:rPr lang="en-US" dirty="0"/>
              <a:t>https://github.com/dbkomma/uhd/blob/usrp_mtx_single_tone/fpga/dk_hdl/main_anc/mtx_single_tone.v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6379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https://stackoverflow.com/questions/57272453/how-can-i-copy-commits-from-one-branch-to-another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141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Modified instructions</a:t>
            </a:r>
          </a:p>
          <a:p>
            <a:r>
              <a:rPr lang="en-US" dirty="0"/>
              <a:t>https://files.ettus.com/manual/page_build_guide.html</a:t>
            </a:r>
          </a:p>
          <a:p>
            <a:r>
              <a:rPr lang="en-US" dirty="0"/>
              <a:t>https://stackoverflow.com/questions/480764/linux-error-while-loading-shared-libraries-cannot-open-shared-object-file-no-s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1016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https://stackoverflow.com/questions/46109211/cherry-picking-few-commits-from-another-branch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032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https://github.com/EttusResearch/uhd/blob/master/fpga/usrp3/top/x300/Makefile.x300.inc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5994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https://github.com/Wangstonn/ww_uhd/blob/osla-bpsk-4.5/fpga/usrp3/top/x300/vlsi_make.sh</a:t>
            </a:r>
          </a:p>
          <a:p>
            <a:r>
              <a:rPr lang="en-US" dirty="0"/>
              <a:t>usrp_load.sh</a:t>
            </a:r>
          </a:p>
          <a:p>
            <a:r>
              <a:rPr lang="en-US" dirty="0"/>
              <a:t>mv_bitfile.sh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9278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https://api.csswg.org/bikeshed/?force=1&amp;url=https://raw.githubusercontent.com/vector-of-bool/pitchfork/develop/data/spec.bs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1009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https://stackoverflow.com/questions/3202136/using-g-to-compile-multiple-cpp-and-h-files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0565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https://stackoverflow.com/questions/2360734/whats-a-good-directory-structure-for-larger-c-projects-using-makefile</a:t>
            </a:r>
          </a:p>
          <a:p>
            <a:r>
              <a:rPr lang="en-US" dirty="0"/>
              <a:t>https://www.open-std.org/jtc1/sc22/wg21/docs/papers/2018/p1204r0.html</a:t>
            </a:r>
          </a:p>
          <a:p>
            <a:endParaRPr lang="en-US" dirty="0"/>
          </a:p>
          <a:p>
            <a:r>
              <a:rPr lang="en-US" dirty="0"/>
              <a:t>https://stackoverflow.com/questions/8304190/cmake-with-include-and-source-paths-basic-setup</a:t>
            </a:r>
          </a:p>
          <a:p>
            <a:r>
              <a:rPr lang="en-US" dirty="0"/>
              <a:t>https://gitlab.kitware.com/cmake/community/-/wikis/doc/cmake/Useful-Variables</a:t>
            </a:r>
          </a:p>
          <a:p>
            <a:r>
              <a:rPr lang="en-US" dirty="0"/>
              <a:t>https://stackoverflow.com/questions/4506193/what-are-the-dusty-corners-a-newcomer-to-cmake-will-want-to-know</a:t>
            </a:r>
          </a:p>
          <a:p>
            <a:r>
              <a:rPr lang="en-US" dirty="0"/>
              <a:t>https://cmake.org/cmake/help/latest/guide/tutorial/Adding%20a%20Library.html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8958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https://www.everythingrf.com/rf-calculators/antenna-near-field-distance-calculator</a:t>
            </a:r>
          </a:p>
          <a:p>
            <a:r>
              <a:rPr lang="en-US" dirty="0"/>
              <a:t>https://www.antenna-theory.com/basics/radpattern.php</a:t>
            </a:r>
          </a:p>
          <a:p>
            <a:r>
              <a:rPr lang="en-US" dirty="0"/>
              <a:t>https://kb.ettus.com/images/2/2b/ettus_research_vert900_datasheet.pdf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6226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https://e2e.ti.com/blogs_/archives/b/precisionhub/posts/it-s-in-the-math-how-to-convert-adc-code-to-a-voltage-part-1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4111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rx_gain = [0, 1, 2, 3, 4, 5, 6, 7, 8, 9, 10, 11, 12, 13, 14, 15, 16, 17, 18, 19, 20, 21, 22, 23, 24, 25, 26, 27, 28, 29, 30];</a:t>
            </a:r>
          </a:p>
          <a:p>
            <a:r>
              <a:rPr lang="sv-SE" dirty="0"/>
              <a:t>var = [29.4913, 29.385, 29.5782, 28.9859, 29.8356, 30.0203, 29.3961, 30.4743, 30.554, 30.9916, 31.4724, 32.3447, 32.9011, 34.0835, 35.9594, 36.9853, 39.5754, 41.4779, 45.2277, 48.711, 54.9174, 60.9974, 69.2489, 78.4937, 92.0707, 106.649, 127.236, 149.659, 182.996, 221.991, 269.37];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7335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https://docs.xilinx.com/r/2021.1-English/ug1387-acap-hardware-ip-platform-dev-methodology/Synthesis-Attributes </a:t>
            </a:r>
          </a:p>
          <a:p>
            <a:r>
              <a:rPr lang="en-US" dirty="0"/>
              <a:t>https://docs.xilinx.com/r/en-US/ug901-vivado-synthesis/DONT_TOUCH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A19DDD-B1BD-4DBB-A1A9-366082CC542B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533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2F3F0-47C5-A3D4-323D-7B5772432B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187EF7-C73A-2E7E-5241-D870B56806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62269-7829-3D9F-34D1-640CADB65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7F620-1E67-F5E3-9D5E-BAF32E861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BF0AE-5B67-DD3E-7CEC-D911B927C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140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7DC59-BBA5-4133-74C3-C76457D0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41E782-188B-AAFD-4D51-F0BE75F423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597A4-65C7-28F8-2FF7-FF5B370E1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E9F62-578A-09D2-7107-AC4F7CEB8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F0297-51FF-89C7-FCE0-812F96E27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063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1937-E2F3-A8EA-B1AC-E82E58808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060DE-9C61-B0D5-0BC2-AEBBCCC2B3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E7BDD8-5DFA-FA18-27C6-715993D16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D052A-591B-3376-3F89-6EF60D81B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5822C-9AD8-8E5C-3836-376E4310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059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B2ED0-81D5-2166-F47D-6C3FA6636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20274-5F9F-CD7C-4F2A-F0AEBBCBDA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2C3641-70AF-1AFC-C02F-236B5A8684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840D39-791B-89FA-FBF7-0336F2D2F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C703D-9CE3-90DC-3AEC-9F7273165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883811-8349-ED8C-E20F-C79D07AAD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6664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CC38C-DDAB-8B15-4298-9C9DBFC47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3B7039-E220-3E26-6E28-3CC5447FF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A47590-C5B6-9D42-0829-4F2D20F533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C85254-346F-CEF5-C18B-AA7FB24582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F15D4-FE4D-D75F-1838-CE7E1309A5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5F0AB7-6300-6CB4-E8C4-2284EB0AC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57DDD32-CE2B-74EC-9AD9-598E73C7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431768-55A6-6721-B7CF-F5BE3ED9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448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200AD-A12A-1A41-40B0-44E71D25C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5463F9-C135-E729-F2E6-C82D49D75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DD21ED-E778-E051-7425-382EE68A6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ADAEFA-93E9-20A7-A2A0-B495BC1D2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35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533C34-F619-3510-C171-65C13A51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B9BE38-64F0-AFB3-BA40-ADF8F5783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2E1BF-246B-16BD-14F3-525092CEC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343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26965-AF32-933E-B1B8-F414D5ECB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F9102-5358-7E5F-2574-DBB83467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1EDA22-04CA-E760-C5F7-55A972689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601D42-03A6-6209-D020-D17B28024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093673-6E60-2721-95A8-D6299A44B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E5BCE1-7998-133D-A578-FFE57AFFF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421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7EED4-CCA1-3AA4-3919-EE5D1599E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155051-4410-7C9C-560D-3316D16FC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B0F4D-9E46-8BC6-E208-4C1738738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1C41DB-7646-793F-6B75-2DB376862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88F927-6541-58C1-827B-49C4D0BEE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01932-3CC9-2986-AA8F-EBB680B54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332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59A2-80A3-82AA-38C2-C6F697DFA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3374B-48D7-5BC1-787E-2C8398392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EB0B2-26C7-3DB4-948A-248AB2D00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C85A7-9702-1F4F-5500-63D076AC1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11185-512C-5221-4BDA-C5C1A6234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9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74891E-395A-4085-B985-C11648A43B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8084DB-56B3-23AE-8EFC-7548864F7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2C535-95BF-ABF4-19F7-B51686CC1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83B592-3268-5E94-FCF2-D1E47A023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F134C-1E62-2938-026C-2CCA2C680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5022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traight Connector 6"/>
          <p:cNvSpPr/>
          <p:nvPr/>
        </p:nvSpPr>
        <p:spPr>
          <a:xfrm>
            <a:off x="1" y="6421438"/>
            <a:ext cx="12192001" cy="1"/>
          </a:xfrm>
          <a:prstGeom prst="line">
            <a:avLst/>
          </a:prstGeom>
          <a:ln>
            <a:solidFill>
              <a:srgbClr val="FFCB05"/>
            </a:solidFill>
          </a:ln>
        </p:spPr>
        <p:txBody>
          <a:bodyPr lIns="60959" rIns="60959"/>
          <a:lstStyle/>
          <a:p>
            <a:endParaRPr sz="2400"/>
          </a:p>
        </p:txBody>
      </p:sp>
      <p:sp>
        <p:nvSpPr>
          <p:cNvPr id="20" name="Straight Connector 9"/>
          <p:cNvSpPr/>
          <p:nvPr/>
        </p:nvSpPr>
        <p:spPr>
          <a:xfrm>
            <a:off x="1" y="679450"/>
            <a:ext cx="12192001" cy="1"/>
          </a:xfrm>
          <a:prstGeom prst="line">
            <a:avLst/>
          </a:prstGeom>
          <a:ln>
            <a:solidFill>
              <a:srgbClr val="FFCB05"/>
            </a:solidFill>
          </a:ln>
        </p:spPr>
        <p:txBody>
          <a:bodyPr lIns="60959" rIns="60959"/>
          <a:lstStyle/>
          <a:p>
            <a:endParaRPr sz="2400"/>
          </a:p>
        </p:txBody>
      </p:sp>
      <p:sp>
        <p:nvSpPr>
          <p:cNvPr id="21" name="标题文本"/>
          <p:cNvSpPr txBox="1">
            <a:spLocks noGrp="1"/>
          </p:cNvSpPr>
          <p:nvPr>
            <p:ph type="title"/>
          </p:nvPr>
        </p:nvSpPr>
        <p:spPr>
          <a:xfrm>
            <a:off x="268819" y="50800"/>
            <a:ext cx="11837339" cy="57785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3600" b="1">
                <a:solidFill>
                  <a:srgbClr val="00274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标题文本</a:t>
            </a:r>
          </a:p>
        </p:txBody>
      </p:sp>
      <p:sp>
        <p:nvSpPr>
          <p:cNvPr id="22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1700900" y="6415183"/>
            <a:ext cx="405256" cy="40978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3" name="正文级别 1…"/>
          <p:cNvSpPr txBox="1">
            <a:spLocks noGrp="1"/>
          </p:cNvSpPr>
          <p:nvPr>
            <p:ph type="body" idx="1"/>
          </p:nvPr>
        </p:nvSpPr>
        <p:spPr>
          <a:xfrm>
            <a:off x="268289" y="787401"/>
            <a:ext cx="11837987" cy="554355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FontTx/>
              <a:buChar char="▪"/>
              <a:defRPr sz="2800">
                <a:solidFill>
                  <a:srgbClr val="0027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41344" indent="-284154">
              <a:buFontTx/>
              <a:defRPr sz="2800">
                <a:solidFill>
                  <a:srgbClr val="0027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179219" indent="-264841">
              <a:buFontTx/>
              <a:defRPr sz="2800">
                <a:solidFill>
                  <a:srgbClr val="0027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689375" indent="-317809">
              <a:buFontTx/>
              <a:defRPr sz="2800">
                <a:solidFill>
                  <a:srgbClr val="0027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46564" indent="-317809">
              <a:buFontTx/>
              <a:defRPr sz="2800">
                <a:solidFill>
                  <a:srgbClr val="00274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</p:spTree>
    <p:extLst>
      <p:ext uri="{BB962C8B-B14F-4D97-AF65-F5344CB8AC3E}">
        <p14:creationId xmlns:p14="http://schemas.microsoft.com/office/powerpoint/2010/main" val="16609508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DC1F13-3CB6-8EC1-967B-A6AC79BAC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92447-C232-44E4-A4CE-15F59AEFEA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168645-5F15-85C7-B26B-5D0A6E5647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8B827B-D727-48E9-881C-E759228D42E3}" type="datetimeFigureOut">
              <a:rPr lang="en-US" smtClean="0"/>
              <a:t>7/1/2025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2CB85-8C38-0B56-BA68-FA864464D9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FC511-E21E-EE87-8A53-CFA1DACC83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1A4074-F6D0-4087-A00F-70C28267C1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903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kb.ettus.com/About_USRP_Bandwidths_and_Sampling_Rates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customXml" Target="../ink/ink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alog.com/media/en/technical-documentation/data-sheets/AD9146.PDF" TargetMode="External"/><Relationship Id="rId3" Type="http://schemas.openxmlformats.org/officeDocument/2006/relationships/hyperlink" Target="https://kb.ettus.com/Mapping_Between_ER-USRP_and_NI-USRP_Product_Numbers" TargetMode="External"/><Relationship Id="rId7" Type="http://schemas.openxmlformats.org/officeDocument/2006/relationships/hyperlink" Target="https://kb.ettus.com/X300/X310#Choosing_USRP_X310_vs_USRP_X300" TargetMode="External"/><Relationship Id="rId2" Type="http://schemas.openxmlformats.org/officeDocument/2006/relationships/hyperlink" Target="https://files.ettus.com/schematics/x300/x3xx.pd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xilinx.com/v/u/en-US/ug473_7Series_Memory_Resources" TargetMode="External"/><Relationship Id="rId5" Type="http://schemas.openxmlformats.org/officeDocument/2006/relationships/hyperlink" Target="https://docs.xilinx.com/v/u/en-US/7-series-product-selection-guide" TargetMode="External"/><Relationship Id="rId4" Type="http://schemas.openxmlformats.org/officeDocument/2006/relationships/hyperlink" Target="https://www.ni.com/docs/en-US/bundle/usrp-2940-features/page/usrp-2940-feature.html" TargetMode="External"/><Relationship Id="rId9" Type="http://schemas.openxmlformats.org/officeDocument/2006/relationships/hyperlink" Target="https://www.ti.com/lit/ds/symlink/ads62p48.pdf?ts=1697824892672&amp;ref_url=https%253A%252F%252Fwww.google.com%252F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edaplayground.com/x/9KTz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md.com/v/u/en-US/ug479_7Series_DSP48E1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f.io/posts/multiplication-fpga-dsps/" TargetMode="External"/><Relationship Id="rId2" Type="http://schemas.openxmlformats.org/officeDocument/2006/relationships/hyperlink" Target="https://nandland.com/coding-style-guidelines-for-vhdl-verilo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xilinx.com/r/en-US/ug901-vivado-synthesis/Multipliers-Coding-Examples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angstonn/ww_uhd/blob/master/fpga/usrp3/lib/ip/dds_sin_cos_lut_only/dds_sin_cos_lut_only.xci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mailto:git@github.com:EttusResearch/uhd.git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ttusResearch/uhd/tree/master/fpga/usrp3/top/x300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angstonn/ww_uhd/blob/osla-bpsk-4.5/fpga/usrp3/top/x300/Makefile.x300.inc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angstonn/ww_uhd/blob/osla-bpsk-4.5/fpga/usrp3/top/x300/vlsi_make.sh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google.com/spreadsheets/d/1B6xLjOiw-5AcmWQ2GNcWTHVfxSufC8P4PqGfJjSeS0I/edit#gid=0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ttusResearch/uhd/tree/master/host/examples/init_usrp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nuradio-cookbook.blogspot.com/2024/07/how-to-configure-external-editor-for.html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emf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s.ettus.com/manual/page_calibration.html" TargetMode="External"/><Relationship Id="rId7" Type="http://schemas.openxmlformats.org/officeDocument/2006/relationships/image" Target="../media/image38.png"/><Relationship Id="rId2" Type="http://schemas.openxmlformats.org/officeDocument/2006/relationships/hyperlink" Target="https://github.com/Wangstonn/ww_uhd/blob/master/fpga/usrp3/lib/dsp/rx_dcoffset.v#L5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270.png"/><Relationship Id="rId4" Type="http://schemas.openxmlformats.org/officeDocument/2006/relationships/hyperlink" Target="https://files.ettus.com/manual/classuhd_1_1usrp_1_1multi__usrp.html#a7beb49c1a04a81b3e7569db482453746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s.ettus.com/manual/page_sync.html" TargetMode="External"/><Relationship Id="rId2" Type="http://schemas.openxmlformats.org/officeDocument/2006/relationships/hyperlink" Target="https://www.youtube.com/watch?v=6TOU0f039g8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mail-archive.com/usrp-users@lists.ettus.com/msg14581.html" TargetMode="Externa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files.ettus.com/manual/page_dboards.html" TargetMode="External"/><Relationship Id="rId2" Type="http://schemas.openxmlformats.org/officeDocument/2006/relationships/hyperlink" Target="https://files.ettus.com/manual/classuhd_1_1usrp_1_1multi__usrp.html#a41cc3c774451d0a2c5f69cd8df0f9f06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s.ettus.com/manual/page_general.html" TargetMode="Externa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s.ettus.com/manual/classuhd_1_1usrp_1_1multi__usrp.html#a38b10a6bd2128b3810da229c60b31aa1" TargetMode="Externa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s.ettus.com/manual/page_usrp_x3x0.html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events.gnuradio.org/event/18/contributions/234/attachments/74/186/GPIOs%20on%20USRPs.pdf" TargetMode="External"/><Relationship Id="rId2" Type="http://schemas.openxmlformats.org/officeDocument/2006/relationships/hyperlink" Target="https://www.youtube.com/watch?v=ppD06ZETnek" TargetMode="Externa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qKNUXDdIvU&amp;t=1811s" TargetMode="External"/><Relationship Id="rId2" Type="http://schemas.openxmlformats.org/officeDocument/2006/relationships/hyperlink" Target="https://www.youtube.com/watch?app=desktop&amp;v=PNMOwhEHE6w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FxciG7nW-J0" TargetMode="External"/><Relationship Id="rId4" Type="http://schemas.openxmlformats.org/officeDocument/2006/relationships/hyperlink" Target="https://en.wikipedia.org/wiki/Stochastic_resonance" TargetMode="Externa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Wangstonn/ww_uhd/blob/master/fpga/usrp3/lib/rfnoc/blocks/rfnoc_block_radio/tx_frontend_gen3.v#L8" TargetMode="External"/><Relationship Id="rId2" Type="http://schemas.openxmlformats.org/officeDocument/2006/relationships/hyperlink" Target="https://github.com/Wangstonn/ww_uhd/blob/master/fpga/usrp3/lib/control/fe_control.v#L14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s.ettus.com/manual/page_general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90FEF-756B-B41F-E4F5-ADE16148DB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Custom HDL for USRP Prototyping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5E65A3-A79D-DD1F-E7A1-5A0476B4AC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Winston Wang</a:t>
            </a:r>
          </a:p>
        </p:txBody>
      </p:sp>
    </p:spTree>
    <p:extLst>
      <p:ext uri="{BB962C8B-B14F-4D97-AF65-F5344CB8AC3E}">
        <p14:creationId xmlns:p14="http://schemas.microsoft.com/office/powerpoint/2010/main" val="2840503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F28BD-059B-4882-5C28-30F27203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are USRP’s?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3FC98-C715-6BC6-6D4E-A7B393626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USRP’s are primarily used as </a:t>
            </a:r>
            <a:r>
              <a:rPr lang="en-US" b="1" dirty="0"/>
              <a:t>software</a:t>
            </a:r>
            <a:r>
              <a:rPr lang="en-US" dirty="0"/>
              <a:t> defined radios. The intended use case is that consumers either</a:t>
            </a:r>
          </a:p>
          <a:p>
            <a:pPr lvl="1"/>
            <a:r>
              <a:rPr lang="en-US" dirty="0"/>
              <a:t>Implement their algorithms on their PC (host) to post process data (GNU Radio)</a:t>
            </a:r>
          </a:p>
          <a:p>
            <a:pPr lvl="2"/>
            <a:r>
              <a:rPr lang="en-US" dirty="0"/>
              <a:t>(very slow, underutilizes </a:t>
            </a:r>
            <a:r>
              <a:rPr lang="en-US" dirty="0" err="1"/>
              <a:t>fpga</a:t>
            </a:r>
            <a:r>
              <a:rPr lang="en-US" dirty="0"/>
              <a:t>, bottlenecked by the transport of samples from USRP to PC)</a:t>
            </a:r>
          </a:p>
          <a:p>
            <a:pPr lvl="1"/>
            <a:r>
              <a:rPr lang="en-US" dirty="0"/>
              <a:t>Connect predefined hardware (</a:t>
            </a:r>
            <a:r>
              <a:rPr lang="en-US" dirty="0" err="1"/>
              <a:t>dsp</a:t>
            </a:r>
            <a:r>
              <a:rPr lang="en-US" dirty="0"/>
              <a:t>) blocks on the USRP FPGA together using the RFNOC library (RFNOC)</a:t>
            </a:r>
          </a:p>
          <a:p>
            <a:pPr lvl="2"/>
            <a:r>
              <a:rPr lang="en-US" dirty="0"/>
              <a:t>Faster, but becomes significantly more complicated to integrate custom modules</a:t>
            </a:r>
          </a:p>
          <a:p>
            <a:r>
              <a:rPr lang="en-US" dirty="0"/>
              <a:t>This can lead to very fast development/prototyping of wireless systems/signal processing, since you can connect different processing blocks together like LEGOs</a:t>
            </a:r>
          </a:p>
        </p:txBody>
      </p:sp>
    </p:spTree>
    <p:extLst>
      <p:ext uri="{BB962C8B-B14F-4D97-AF65-F5344CB8AC3E}">
        <p14:creationId xmlns:p14="http://schemas.microsoft.com/office/powerpoint/2010/main" val="2559477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C5F48-384D-E496-A4C9-33C189BA5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why work at the HDL level?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5BA04-E41A-B730-DF0E-986B5DEB4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research, we want to create custom digital signal processing hardware blocks to use on the FPGAs</a:t>
            </a:r>
          </a:p>
          <a:p>
            <a:pPr lvl="1"/>
            <a:r>
              <a:rPr lang="en-US" dirty="0"/>
              <a:t>Time constraints, data size constraints …</a:t>
            </a:r>
          </a:p>
          <a:p>
            <a:r>
              <a:rPr lang="en-US" dirty="0"/>
              <a:t>Ettus has a way for us to create our own RFNOC blocks which we could then use from the GRC flowgraphs!</a:t>
            </a:r>
          </a:p>
          <a:p>
            <a:pPr lvl="1"/>
            <a:r>
              <a:rPr lang="en-US" dirty="0"/>
              <a:t>Well, do we </a:t>
            </a:r>
            <a:r>
              <a:rPr lang="en-US" i="1" dirty="0"/>
              <a:t>really</a:t>
            </a:r>
            <a:r>
              <a:rPr lang="en-US" dirty="0"/>
              <a:t> need the flowgraph interactivity? What’s the cost?</a:t>
            </a:r>
          </a:p>
          <a:p>
            <a:pPr lvl="2"/>
            <a:r>
              <a:rPr lang="en-US" dirty="0"/>
              <a:t>Need to look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69200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B59F8-C14C-9BB7-4878-197C662DC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RFNOC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1E7AE-63E8-C98B-53E6-0B70C87B0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achieve this host side re-programmability while using digital hardware blocks, the RFNOC system specifies a communication protocol between all the blocks, handles switching and connections, and handles interfacing between RFNOC blocks and the USRP Hardware Driver (UHD)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B2DED4-F975-BF1F-F2BB-198E51BE1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71" y="3429000"/>
            <a:ext cx="6191250" cy="3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6748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0B09-D98C-76F2-1F02-1AD7590B0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RFNOC?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ABD92-3414-410A-49C7-61107354F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problem with RFNOC is that it requires wrappers for all blocks so that they can be reconfigurable. This introduces a packet based interface between blocks that is taken care by the RFNOC wrapper, but requires our modules to use an AXI interface</a:t>
            </a:r>
          </a:p>
          <a:p>
            <a:r>
              <a:rPr lang="en-US" dirty="0"/>
              <a:t>This introduces complexity as well as ambiguity for the engineer (how does the CHDR work? What is the latency? etc.)</a:t>
            </a:r>
          </a:p>
          <a:p>
            <a:r>
              <a:rPr lang="en-US" dirty="0"/>
              <a:t>If we are prototyping a device, do we need this reconfigurability? Are we OK just flashing a design to the FGPA and using it?</a:t>
            </a:r>
          </a:p>
          <a:p>
            <a:pPr lvl="1"/>
            <a:r>
              <a:rPr lang="en-US" dirty="0"/>
              <a:t>A: Probably more work than its worth</a:t>
            </a:r>
          </a:p>
        </p:txBody>
      </p:sp>
    </p:spTree>
    <p:extLst>
      <p:ext uri="{BB962C8B-B14F-4D97-AF65-F5344CB8AC3E}">
        <p14:creationId xmlns:p14="http://schemas.microsoft.com/office/powerpoint/2010/main" val="3284580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E1E34-C39A-6DDE-C552-6745E46FE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want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F3652-AE8E-6212-E047-F41733D02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the minimum amount of stuff we must deal with to make a prototype?</a:t>
            </a:r>
          </a:p>
          <a:p>
            <a:pPr lvl="1"/>
            <a:r>
              <a:rPr lang="en-US" dirty="0"/>
              <a:t>We want an Analog front end/data converters, an FGPA, and a way to interface with a host device.</a:t>
            </a:r>
          </a:p>
          <a:p>
            <a:pPr lvl="2"/>
            <a:r>
              <a:rPr lang="en-US" dirty="0"/>
              <a:t>Some radio nonideality corrections would be nice as well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579A7-F3BD-89E6-397D-8F83C282E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2508" y="3682252"/>
            <a:ext cx="6299202" cy="317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3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3E083-42E2-FF06-2E47-757E342D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Towards our AFE + DC + FPGA goal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7E4BB-D6CB-2FFC-A6DC-36F59867D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no customer-friendly “supported” way to get what we want. </a:t>
            </a:r>
          </a:p>
          <a:p>
            <a:r>
              <a:rPr lang="en-US" dirty="0"/>
              <a:t>Fortunately, the USRP host and FGPA code is all open source. We can edit the FPGA code ourselves and “hijack” the system for our goals.</a:t>
            </a:r>
          </a:p>
          <a:p>
            <a:r>
              <a:rPr lang="en-US" dirty="0"/>
              <a:t>This requires learning about important subsystems of the USRP and many hours of code reading/searching</a:t>
            </a:r>
          </a:p>
          <a:p>
            <a:r>
              <a:rPr lang="en-US" dirty="0"/>
              <a:t>Hopefully, we can condense this by explaining some major parts, and establish a framework for projects to start from.</a:t>
            </a:r>
          </a:p>
        </p:txBody>
      </p:sp>
    </p:spTree>
    <p:extLst>
      <p:ext uri="{BB962C8B-B14F-4D97-AF65-F5344CB8AC3E}">
        <p14:creationId xmlns:p14="http://schemas.microsoft.com/office/powerpoint/2010/main" val="3986253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BFED2-F655-6B50-8FDF-A4503DACB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UHD?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73C46D-2CD1-BD14-A21D-43AADE25C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Verilog code to handle outputs from ADC/DAC</a:t>
            </a:r>
          </a:p>
          <a:p>
            <a:pPr lvl="1"/>
            <a:r>
              <a:rPr lang="en-US" dirty="0"/>
              <a:t>Processing, transport, control</a:t>
            </a:r>
          </a:p>
          <a:p>
            <a:r>
              <a:rPr lang="en-US" dirty="0"/>
              <a:t>C++ code to communicate with the USRP</a:t>
            </a:r>
          </a:p>
          <a:p>
            <a:pPr lvl="1"/>
            <a:r>
              <a:rPr lang="en-US" dirty="0"/>
              <a:t>Transport, processing, control (again)</a:t>
            </a:r>
          </a:p>
          <a:p>
            <a:pPr lvl="1"/>
            <a:endParaRPr lang="en-US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634BE181-3AEB-E6C1-DB54-37582052E7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4345" y="2687782"/>
            <a:ext cx="4113491" cy="4007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63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194EA-BE73-9085-1D23-B46D44F28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one: understanding the USRP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272BA-2A7B-E253-59D1-E821054EB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Before designing any USRP system, you need to first understand the channel characteristics you are dealing with.</a:t>
            </a:r>
          </a:p>
          <a:p>
            <a:r>
              <a:rPr lang="en-US" dirty="0"/>
              <a:t>The USRP X310 is a motherboard that takes an analog signal, converts it, and interfaces with a  computer</a:t>
            </a:r>
          </a:p>
          <a:p>
            <a:r>
              <a:rPr lang="en-US" dirty="0"/>
              <a:t>They connect to an RF daughterboard that handles up conversion and amplification.</a:t>
            </a:r>
          </a:p>
          <a:p>
            <a:r>
              <a:rPr lang="en-US" dirty="0"/>
              <a:t>This signal goes into an antenna and transmitted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8085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29109-D45E-0EE8-E28F-2F503C857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Daughterboards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5DE90-9BE5-6D47-A3A7-AF899601D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DAC is on motherboard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0D5289-4BF6-BC76-E92C-9A0CC33C7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3124" y="2897287"/>
            <a:ext cx="5696591" cy="32796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3E6B3C4-7307-C68E-C76B-6BFD85EA54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404" y="3032224"/>
            <a:ext cx="5550720" cy="288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676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BF348-2ED4-BA10-8CB5-0BDDD53B4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E300F-FEAF-C29E-CCD2-AD1A8878E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/>
              <a:t>In the X310+UBX160 setup, the daughterboard bandwidth is lower than the </a:t>
            </a:r>
            <a:r>
              <a:rPr lang="en-US" dirty="0" err="1"/>
              <a:t>fpga</a:t>
            </a:r>
            <a:r>
              <a:rPr lang="en-US" dirty="0"/>
              <a:t> bandwidth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94C74F-8F15-A141-C33C-F03201F42F8B}"/>
              </a:ext>
            </a:extLst>
          </p:cNvPr>
          <p:cNvSpPr txBox="1"/>
          <p:nvPr/>
        </p:nvSpPr>
        <p:spPr>
          <a:xfrm>
            <a:off x="6094228" y="511491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https://kb.ettus.com/About_USRP_Bandwidths_and_Sampling_Rates</a:t>
            </a:r>
            <a:r>
              <a:rPr lang="en-US" dirty="0"/>
              <a:t> </a:t>
            </a: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1EE57591-36D2-F07F-5D3C-30BAE8F89E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6727" y="2612947"/>
            <a:ext cx="8765437" cy="403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821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65E19-0A66-9526-7240-F6BAFD025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frequencies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0326A-32B0-1392-DB72-626EBD52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3727"/>
            <a:ext cx="4297326" cy="4351338"/>
          </a:xfrm>
        </p:spPr>
        <p:txBody>
          <a:bodyPr/>
          <a:lstStyle/>
          <a:p>
            <a:r>
              <a:rPr lang="en-US" dirty="0"/>
              <a:t>What should our </a:t>
            </a:r>
            <a:r>
              <a:rPr lang="en-US" dirty="0" err="1"/>
              <a:t>tx</a:t>
            </a:r>
            <a:r>
              <a:rPr lang="en-US" dirty="0"/>
              <a:t> and </a:t>
            </a:r>
            <a:r>
              <a:rPr lang="en-US" dirty="0" err="1"/>
              <a:t>rx</a:t>
            </a:r>
            <a:r>
              <a:rPr lang="en-US" dirty="0"/>
              <a:t> frequencies be?</a:t>
            </a:r>
          </a:p>
          <a:p>
            <a:pPr lvl="1"/>
            <a:r>
              <a:rPr lang="en-US" dirty="0"/>
              <a:t>Legally, must be in the ISM band (reserved for research</a:t>
            </a:r>
          </a:p>
          <a:p>
            <a:pPr lvl="1"/>
            <a:r>
              <a:rPr lang="en-US" dirty="0"/>
              <a:t>2.4 GHz is attenuated by water and subject to </a:t>
            </a:r>
            <a:r>
              <a:rPr lang="en-US" dirty="0" err="1"/>
              <a:t>WiFi</a:t>
            </a:r>
            <a:r>
              <a:rPr lang="en-US" dirty="0"/>
              <a:t> interference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75DDE6-F54F-8D42-A50E-FAB959508A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0707" y="1464793"/>
            <a:ext cx="6712536" cy="5166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797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EA3E-0B0C-5BE3-2DFD-AA4BDE156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1F3149-B2C4-642C-0C33-B8B0514CF6D2}"/>
              </a:ext>
            </a:extLst>
          </p:cNvPr>
          <p:cNvSpPr txBox="1"/>
          <p:nvPr/>
        </p:nvSpPr>
        <p:spPr>
          <a:xfrm>
            <a:off x="574158" y="60121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https://kb.ettus.com/X300/X310_Getting_Started_Guides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BFB6E2-6F8F-5D68-A3E2-E590FDF1B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25" y="1650825"/>
            <a:ext cx="11713534" cy="280829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8ED12845-72A0-10C5-22BC-F88B707179F0}"/>
                  </a:ext>
                </a:extLst>
              </p14:cNvPr>
              <p14:cNvContentPartPr/>
              <p14:nvPr/>
            </p14:nvContentPartPr>
            <p14:xfrm>
              <a:off x="818607" y="3795112"/>
              <a:ext cx="3806640" cy="1072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8ED12845-72A0-10C5-22BC-F88B707179F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4607" y="3687472"/>
                <a:ext cx="391428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A1E90B8-7015-6A33-7306-1D1175AA2192}"/>
                  </a:ext>
                </a:extLst>
              </p14:cNvPr>
              <p14:cNvContentPartPr/>
              <p14:nvPr/>
            </p14:nvContentPartPr>
            <p14:xfrm>
              <a:off x="903927" y="4178512"/>
              <a:ext cx="4837320" cy="648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A1E90B8-7015-6A33-7306-1D1175AA219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49927" y="4070872"/>
                <a:ext cx="4944960" cy="28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07405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BBC12-FBAA-45BF-0392-384830E7E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2F0E9-2FE2-1FE1-46AF-2167D3CE5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095847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B76C4D-C928-B396-11E8-8DAC78EA8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251" y="681037"/>
            <a:ext cx="7410893" cy="5662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8096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CC5BF-CE6F-6230-C64E-C63D9D6E3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safety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58C13-DD85-9EEB-E42A-367B697CBB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On the </a:t>
                </a:r>
                <a:r>
                  <a:rPr lang="en-US" dirty="0" err="1"/>
                  <a:t>fpga</a:t>
                </a:r>
                <a:r>
                  <a:rPr lang="en-US" dirty="0"/>
                  <a:t>, a data direction register (</a:t>
                </a:r>
                <a:r>
                  <a:rPr lang="en-US" dirty="0" err="1"/>
                  <a:t>ddr</a:t>
                </a:r>
                <a:r>
                  <a:rPr lang="en-US" dirty="0"/>
                  <a:t>) controls whether the </a:t>
                </a:r>
                <a:r>
                  <a:rPr lang="en-US" dirty="0" err="1"/>
                  <a:t>gpio</a:t>
                </a:r>
                <a:r>
                  <a:rPr lang="en-US" dirty="0"/>
                  <a:t> is in input mode or output mode. There is one reg per pin</a:t>
                </a:r>
              </a:p>
              <a:p>
                <a:pPr lvl="1"/>
                <a:r>
                  <a:rPr lang="en-US" dirty="0" err="1"/>
                  <a:t>fp_gpio_ddr</a:t>
                </a:r>
                <a:r>
                  <a:rPr lang="en-US" dirty="0"/>
                  <a:t> = 1 -&gt; pin = </a:t>
                </a:r>
                <a:r>
                  <a:rPr lang="en-US" dirty="0" err="1"/>
                  <a:t>fp_gpio_out</a:t>
                </a:r>
                <a:r>
                  <a:rPr lang="en-US" dirty="0"/>
                  <a:t>    (</a:t>
                </a:r>
                <a:r>
                  <a:rPr lang="en-US" dirty="0" err="1"/>
                  <a:t>fp_gpio_in</a:t>
                </a:r>
                <a:r>
                  <a:rPr lang="en-US" dirty="0"/>
                  <a:t> ignored)</a:t>
                </a:r>
              </a:p>
              <a:p>
                <a:pPr lvl="1"/>
                <a:r>
                  <a:rPr lang="en-US" dirty="0" err="1"/>
                  <a:t>fp_gpio_ddr</a:t>
                </a:r>
                <a:r>
                  <a:rPr lang="en-US" dirty="0"/>
                  <a:t> = 0 -&gt; </a:t>
                </a:r>
                <a:r>
                  <a:rPr lang="en-US" dirty="0" err="1"/>
                  <a:t>fp_gpio_in</a:t>
                </a:r>
                <a:r>
                  <a:rPr lang="en-US" dirty="0"/>
                  <a:t> = pin   (</a:t>
                </a:r>
                <a:r>
                  <a:rPr lang="en-US" dirty="0" err="1"/>
                  <a:t>fp_gpio_out</a:t>
                </a:r>
                <a:r>
                  <a:rPr lang="en-US" dirty="0"/>
                  <a:t> ignored)</a:t>
                </a:r>
              </a:p>
              <a:p>
                <a:pPr lvl="1"/>
                <a:r>
                  <a:rPr lang="en-US" dirty="0"/>
                  <a:t>(these names are the ones </a:t>
                </a:r>
                <a:r>
                  <a:rPr lang="en-US"/>
                  <a:t>used in x300_core.v)</a:t>
                </a:r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Problem: connecting two output </a:t>
                </a:r>
                <a:r>
                  <a:rPr lang="en-US" dirty="0" err="1"/>
                  <a:t>gpio</a:t>
                </a:r>
                <a:r>
                  <a:rPr lang="en-US" dirty="0"/>
                  <a:t> pin can lead to overcurrent if one is set to zero and the other is set to one. Even worse, we don’t physically know if the </a:t>
                </a:r>
                <a:r>
                  <a:rPr lang="en-US" dirty="0" err="1"/>
                  <a:t>gpio</a:t>
                </a:r>
                <a:r>
                  <a:rPr lang="en-US" dirty="0"/>
                  <a:t> pin is an input or output</a:t>
                </a:r>
              </a:p>
              <a:p>
                <a:r>
                  <a:rPr lang="en-US" dirty="0"/>
                  <a:t>2 solutions:</a:t>
                </a:r>
              </a:p>
              <a:p>
                <a:pPr lvl="1"/>
                <a:r>
                  <a:rPr lang="en-US" dirty="0"/>
                  <a:t>Never directly connect </a:t>
                </a:r>
                <a:r>
                  <a:rPr lang="en-US" dirty="0" err="1"/>
                  <a:t>gpio</a:t>
                </a:r>
                <a:r>
                  <a:rPr lang="en-US" dirty="0"/>
                  <a:t> pins. Always connect them with a 1k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dirty="0"/>
                  <a:t> resistor</a:t>
                </a:r>
              </a:p>
              <a:p>
                <a:pPr lvl="1"/>
                <a:r>
                  <a:rPr lang="en-US" dirty="0"/>
                  <a:t>For all input pins, set </a:t>
                </a:r>
                <a:r>
                  <a:rPr lang="en-US" dirty="0" err="1"/>
                  <a:t>fp_gpio_out</a:t>
                </a:r>
                <a:r>
                  <a:rPr lang="en-US" dirty="0"/>
                  <a:t> = 1. This way, if we accidentally set </a:t>
                </a:r>
                <a:r>
                  <a:rPr lang="en-US" dirty="0" err="1"/>
                  <a:t>ddr</a:t>
                </a:r>
                <a:r>
                  <a:rPr lang="en-US" dirty="0"/>
                  <a:t> = 1, we can see by measuring the pin.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458C13-DD85-9EEB-E42A-367B697CBB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00101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9D6CE-FA8A-2313-46C3-D38102B9E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Verilog reminder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17ED1-EC6B-B9A3-977A-6F0866893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‘b1 will set the first bit to one, not all of them</a:t>
            </a:r>
          </a:p>
          <a:p>
            <a:r>
              <a:rPr lang="en-US" dirty="0"/>
              <a:t>Use the replication operator to set a group of bits to 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FBDF5F-E541-D47F-CE7A-9781014A3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429000"/>
            <a:ext cx="9805225" cy="154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577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D56C5-CADC-FC05-8562-5CA25CF66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338AED-C064-30FB-5AF8-9AA945B0C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3FEF42-A7E3-AD7F-1188-BD96D90A6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40" y="1690688"/>
            <a:ext cx="11622320" cy="300838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F902FE3-6296-4FFC-7518-FD6E4B4F3AA8}"/>
                  </a:ext>
                </a:extLst>
              </p14:cNvPr>
              <p14:cNvContentPartPr/>
              <p14:nvPr/>
            </p14:nvContentPartPr>
            <p14:xfrm>
              <a:off x="284840" y="3614551"/>
              <a:ext cx="4412160" cy="648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F902FE3-6296-4FFC-7518-FD6E4B4F3AA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0840" y="3506551"/>
                <a:ext cx="4519800" cy="28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592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D28EB-E116-E2D5-465B-AA88E28D9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DBBD1-1AC0-212A-8BEA-321023793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>
                <a:hlinkClick r:id="rId2"/>
              </a:rPr>
              <a:t>https://files.ettus.com/schematics/x300/x3xx.pdf</a:t>
            </a:r>
            <a:endParaRPr lang="en-US" dirty="0"/>
          </a:p>
          <a:p>
            <a:r>
              <a:rPr lang="en-US" dirty="0"/>
              <a:t>NI documentation</a:t>
            </a:r>
          </a:p>
          <a:p>
            <a:pPr lvl="1"/>
            <a:r>
              <a:rPr lang="en-US" dirty="0">
                <a:hlinkClick r:id="rId3"/>
              </a:rPr>
              <a:t>https://kb.ettus.com/Mapping_Between_ER-USRP_and_NI-USRP_Product_Numbers</a:t>
            </a:r>
            <a:endParaRPr lang="en-US" dirty="0"/>
          </a:p>
          <a:p>
            <a:pPr lvl="1"/>
            <a:r>
              <a:rPr lang="en-US" dirty="0"/>
              <a:t> </a:t>
            </a:r>
            <a:r>
              <a:rPr lang="en-US" dirty="0">
                <a:hlinkClick r:id="rId4"/>
              </a:rPr>
              <a:t>https://www.ni.com/docs/en-US/bundle/usrp-2940-features/page/usrp-2940-feature.html</a:t>
            </a:r>
            <a:r>
              <a:rPr lang="en-US" dirty="0"/>
              <a:t> </a:t>
            </a:r>
          </a:p>
          <a:p>
            <a:r>
              <a:rPr lang="en-US" dirty="0"/>
              <a:t>FPGA features</a:t>
            </a:r>
          </a:p>
          <a:p>
            <a:pPr lvl="1"/>
            <a:r>
              <a:rPr lang="en-US" dirty="0">
                <a:hlinkClick r:id="rId5"/>
              </a:rPr>
              <a:t>https://docs.xilinx.com/v/u/en-US/7-series-product-selection-guide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6"/>
              </a:rPr>
              <a:t>https://docs.xilinx.com/v/u/en-US/ug473_7Series_Memory_Resources</a:t>
            </a:r>
            <a:r>
              <a:rPr lang="en-US" dirty="0"/>
              <a:t> </a:t>
            </a:r>
          </a:p>
          <a:p>
            <a:r>
              <a:rPr lang="en-US" dirty="0"/>
              <a:t>A components list:</a:t>
            </a:r>
          </a:p>
          <a:p>
            <a:pPr lvl="1"/>
            <a:r>
              <a:rPr lang="en-US" dirty="0">
                <a:hlinkClick r:id="rId7"/>
              </a:rPr>
              <a:t>https://kb.ettus.com/X300/X310#Choosing_USRP_X310_vs_USRP_X300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8"/>
              </a:rPr>
              <a:t>https://www.analog.com/media/en/technical-documentation/data-sheets/AD9146.PDF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9"/>
              </a:rPr>
              <a:t>https://www.ti.com/lit/ds/symlink/ads62p48.pdf?ts=1697824892672&amp;ref_url=https%253A%252F%252Fwww.google.com%252F</a:t>
            </a: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310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8B134-60D4-036B-1031-D9EEE2B29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setup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B9AE9-81BB-8E5B-2387-5E1E12CC1A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2873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6F35D-0442-406A-B03E-249B0DFF6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Putty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DE2AA-642A-4A8B-B3FD-2793CCDC6A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/>
              <a:t>Remember to save to profile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A18D4-D784-4189-B9F1-38DF15DB6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076" y="1109609"/>
            <a:ext cx="5470827" cy="5512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449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0C938-E2BA-904C-F582-DBCAB5041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vlsipool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7C1C5-4FF4-8DBC-0E7C-6DCE2E2BE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Step 1: </a:t>
            </a:r>
            <a:r>
              <a:rPr lang="en-US" dirty="0" err="1"/>
              <a:t>ssh</a:t>
            </a:r>
            <a:r>
              <a:rPr lang="en-US" dirty="0"/>
              <a:t> into </a:t>
            </a:r>
            <a:r>
              <a:rPr lang="en-US" dirty="0" err="1"/>
              <a:t>vlsipool</a:t>
            </a:r>
            <a:r>
              <a:rPr lang="en-US" dirty="0"/>
              <a:t>-[a-z][0-9][0-9] </a:t>
            </a:r>
          </a:p>
          <a:p>
            <a:pPr marL="0" indent="0">
              <a:buNone/>
            </a:pPr>
            <a:r>
              <a:rPr lang="en-US" dirty="0"/>
              <a:t>Step 2: </a:t>
            </a:r>
            <a:r>
              <a:rPr lang="en-US" dirty="0" err="1"/>
              <a:t>vncserver</a:t>
            </a:r>
            <a:r>
              <a:rPr lang="en-US" dirty="0"/>
              <a:t> :XX //establish a session on a port</a:t>
            </a:r>
          </a:p>
          <a:p>
            <a:pPr marL="0" indent="0">
              <a:buNone/>
            </a:pPr>
            <a:r>
              <a:rPr lang="en-US" dirty="0"/>
              <a:t>Step 3: exit</a:t>
            </a:r>
          </a:p>
          <a:p>
            <a:pPr marL="0" indent="0">
              <a:buNone/>
            </a:pPr>
            <a:r>
              <a:rPr lang="en-US" dirty="0"/>
              <a:t>Step 4: </a:t>
            </a:r>
            <a:r>
              <a:rPr lang="en-US" dirty="0" err="1"/>
              <a:t>ssh</a:t>
            </a:r>
            <a:r>
              <a:rPr lang="en-US" dirty="0"/>
              <a:t> –L 59XX:localhost:59XX </a:t>
            </a:r>
            <a:r>
              <a:rPr lang="en-US" dirty="0" err="1"/>
              <a:t>vlsipool</a:t>
            </a:r>
            <a:r>
              <a:rPr lang="en-US" dirty="0"/>
              <a:t>-[a-z][0-9][0-9] //connect the port to the tunnel</a:t>
            </a:r>
          </a:p>
          <a:p>
            <a:pPr marL="0" indent="0">
              <a:buNone/>
            </a:pPr>
            <a:r>
              <a:rPr lang="en-US" dirty="0"/>
              <a:t>Step 5: </a:t>
            </a:r>
            <a:r>
              <a:rPr lang="en-US" dirty="0" err="1"/>
              <a:t>tigervnc</a:t>
            </a:r>
            <a:r>
              <a:rPr lang="en-US" dirty="0"/>
              <a:t> localhost:59XX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195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67FB5-3E91-4FB2-98E3-DAE9A10AC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353EB-D0BF-4685-9E38-6A50A15FC9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source control, make a </a:t>
            </a:r>
            <a:r>
              <a:rPr lang="en-US" dirty="0" err="1"/>
              <a:t>github</a:t>
            </a:r>
            <a:r>
              <a:rPr lang="en-US" dirty="0"/>
              <a:t> repo for the project and clone it onto the </a:t>
            </a:r>
            <a:r>
              <a:rPr lang="en-US" dirty="0" err="1"/>
              <a:t>afs</a:t>
            </a:r>
            <a:r>
              <a:rPr lang="en-US" dirty="0"/>
              <a:t> server using https</a:t>
            </a:r>
          </a:p>
          <a:p>
            <a:endParaRPr lang="en-US" dirty="0"/>
          </a:p>
          <a:p>
            <a:r>
              <a:rPr lang="en-US" dirty="0"/>
              <a:t>https://docs.github.com/en/get-started/getting-started-with-git/about-remote-repositories#cloning-with-https-urls</a:t>
            </a:r>
          </a:p>
        </p:txBody>
      </p:sp>
    </p:spTree>
    <p:extLst>
      <p:ext uri="{BB962C8B-B14F-4D97-AF65-F5344CB8AC3E}">
        <p14:creationId xmlns:p14="http://schemas.microsoft.com/office/powerpoint/2010/main" val="1660255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8ABBE-AFDE-405B-94DD-7A286ADB3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Vivado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C4337-58B0-4F7D-A351-51BFB4BE1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module avail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module add Xilinx-</a:t>
            </a:r>
            <a:r>
              <a:rPr lang="en-US" dirty="0" err="1"/>
              <a:t>vivado</a:t>
            </a:r>
            <a:r>
              <a:rPr lang="en-US" dirty="0"/>
              <a:t>/2022.1</a:t>
            </a:r>
          </a:p>
          <a:p>
            <a:pPr marL="0" indent="0">
              <a:buNone/>
            </a:pPr>
            <a:r>
              <a:rPr lang="en-US" dirty="0" err="1"/>
              <a:t>vivado</a:t>
            </a:r>
            <a:r>
              <a:rPr lang="en-US" dirty="0"/>
              <a:t> &amp;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First time:</a:t>
            </a:r>
          </a:p>
          <a:p>
            <a:pPr marL="0" indent="0">
              <a:buNone/>
            </a:pPr>
            <a:r>
              <a:rPr lang="en-US" dirty="0"/>
              <a:t>Create a new project, select sources, and set the </a:t>
            </a:r>
            <a:r>
              <a:rPr lang="en-US" dirty="0" err="1"/>
              <a:t>fpga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Fpga</a:t>
            </a:r>
            <a:r>
              <a:rPr lang="en-US" dirty="0"/>
              <a:t> for x310 is xc7k410tffg900-2 (active))</a:t>
            </a:r>
          </a:p>
        </p:txBody>
      </p:sp>
    </p:spTree>
    <p:extLst>
      <p:ext uri="{BB962C8B-B14F-4D97-AF65-F5344CB8AC3E}">
        <p14:creationId xmlns:p14="http://schemas.microsoft.com/office/powerpoint/2010/main" val="1009660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E4E50-74C6-7C4C-04A6-2D8E67AA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Vivado</a:t>
            </a:r>
            <a:r>
              <a:rPr lang="en-US" dirty="0"/>
              <a:t>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1C0BD-E934-69C4-450F-113369E1C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Vivado</a:t>
            </a:r>
            <a:r>
              <a:rPr lang="en-US" dirty="0"/>
              <a:t> will create a TON of logs that make it hard to checkout different branches.</a:t>
            </a:r>
          </a:p>
          <a:p>
            <a:r>
              <a:rPr lang="en-US" dirty="0"/>
              <a:t>Create your </a:t>
            </a:r>
            <a:r>
              <a:rPr lang="en-US" dirty="0" err="1"/>
              <a:t>vivado</a:t>
            </a:r>
            <a:r>
              <a:rPr lang="en-US" dirty="0"/>
              <a:t> project outside of your git repo and have it linked to sources in the repo</a:t>
            </a:r>
          </a:p>
          <a:p>
            <a:r>
              <a:rPr lang="en-US" dirty="0" err="1"/>
              <a:t>Vivado</a:t>
            </a:r>
            <a:r>
              <a:rPr lang="en-US" dirty="0"/>
              <a:t> will still add backup and sim files to your sources. These can get very large and prevent you from uploading to git. Use .</a:t>
            </a:r>
            <a:r>
              <a:rPr lang="en-US" dirty="0" err="1"/>
              <a:t>gitignore</a:t>
            </a:r>
            <a:r>
              <a:rPr lang="en-US" dirty="0"/>
              <a:t> to  avoid these files!!!!</a:t>
            </a:r>
          </a:p>
        </p:txBody>
      </p:sp>
    </p:spTree>
    <p:extLst>
      <p:ext uri="{BB962C8B-B14F-4D97-AF65-F5344CB8AC3E}">
        <p14:creationId xmlns:p14="http://schemas.microsoft.com/office/powerpoint/2010/main" val="33812419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85518-F646-0426-9F0E-190B5BF5F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Verilog file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45FCE-6F7E-DED7-600B-C454BF150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First focus on implementing the signal </a:t>
            </a:r>
            <a:r>
              <a:rPr lang="en-US" dirty="0" err="1"/>
              <a:t>datapath</a:t>
            </a:r>
            <a:r>
              <a:rPr lang="en-US" dirty="0"/>
              <a:t> of your modules.</a:t>
            </a:r>
          </a:p>
          <a:p>
            <a:pPr lvl="1"/>
            <a:r>
              <a:rPr lang="en-US" dirty="0"/>
              <a:t>They should have a </a:t>
            </a:r>
            <a:r>
              <a:rPr lang="en-US" dirty="0" err="1"/>
              <a:t>clk</a:t>
            </a:r>
            <a:r>
              <a:rPr lang="en-US" dirty="0"/>
              <a:t>, reset, start signal, and data you want to read</a:t>
            </a:r>
          </a:p>
          <a:p>
            <a:r>
              <a:rPr lang="en-US" dirty="0"/>
              <a:t>Recommended file structure</a:t>
            </a:r>
          </a:p>
          <a:p>
            <a:pPr lvl="1"/>
            <a:r>
              <a:rPr lang="en-US" dirty="0"/>
              <a:t>Make a </a:t>
            </a:r>
            <a:r>
              <a:rPr lang="en-US" dirty="0" err="1"/>
              <a:t>github</a:t>
            </a:r>
            <a:r>
              <a:rPr lang="en-US" dirty="0"/>
              <a:t> repo</a:t>
            </a:r>
          </a:p>
          <a:p>
            <a:pPr lvl="2"/>
            <a:r>
              <a:rPr lang="en-US" dirty="0"/>
              <a:t>ex: </a:t>
            </a:r>
            <a:r>
              <a:rPr lang="en-US" dirty="0" err="1"/>
              <a:t>your_project_name</a:t>
            </a:r>
            <a:r>
              <a:rPr lang="en-US" dirty="0"/>
              <a:t> = OSLA</a:t>
            </a:r>
          </a:p>
          <a:p>
            <a:pPr lvl="1"/>
            <a:r>
              <a:rPr lang="en-US" dirty="0"/>
              <a:t>Then make an </a:t>
            </a:r>
            <a:r>
              <a:rPr lang="en-US" dirty="0" err="1"/>
              <a:t>rtl</a:t>
            </a:r>
            <a:r>
              <a:rPr lang="en-US" dirty="0"/>
              <a:t> folder</a:t>
            </a:r>
          </a:p>
          <a:p>
            <a:pPr lvl="1"/>
            <a:r>
              <a:rPr lang="en-US" dirty="0" err="1"/>
              <a:t>mkdir</a:t>
            </a:r>
            <a:r>
              <a:rPr lang="en-US" dirty="0"/>
              <a:t> OSLA/</a:t>
            </a:r>
            <a:r>
              <a:rPr lang="en-US" dirty="0" err="1"/>
              <a:t>rtl</a:t>
            </a:r>
            <a:endParaRPr lang="en-US" dirty="0"/>
          </a:p>
          <a:p>
            <a:pPr lvl="1"/>
            <a:r>
              <a:rPr lang="en-US" dirty="0"/>
              <a:t>Make subfolders for sources</a:t>
            </a:r>
          </a:p>
          <a:p>
            <a:pPr lvl="1"/>
            <a:r>
              <a:rPr lang="en-US" dirty="0" err="1"/>
              <a:t>mkdir</a:t>
            </a:r>
            <a:r>
              <a:rPr lang="en-US" dirty="0"/>
              <a:t> OSLA/</a:t>
            </a:r>
            <a:r>
              <a:rPr lang="en-US" dirty="0" err="1"/>
              <a:t>rtl</a:t>
            </a:r>
            <a:r>
              <a:rPr lang="en-US" dirty="0"/>
              <a:t>/sources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489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BAE49-EC9B-256B-64C8-FBEC84E45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rtl</a:t>
            </a:r>
            <a:r>
              <a:rPr lang="en-US" dirty="0"/>
              <a:t>/Sources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F4A85-D757-AC99-8448-C4162E917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Each module has a folder</a:t>
            </a:r>
          </a:p>
          <a:p>
            <a:pPr lvl="1"/>
            <a:r>
              <a:rPr lang="en-US" dirty="0"/>
              <a:t>ex: source, </a:t>
            </a:r>
            <a:r>
              <a:rPr lang="en-US" dirty="0" err="1"/>
              <a:t>dest</a:t>
            </a:r>
            <a:r>
              <a:rPr lang="en-US" dirty="0"/>
              <a:t>, utils,…</a:t>
            </a:r>
          </a:p>
          <a:p>
            <a:r>
              <a:rPr lang="en-US" dirty="0"/>
              <a:t>each folder contains</a:t>
            </a:r>
          </a:p>
          <a:p>
            <a:pPr lvl="1"/>
            <a:r>
              <a:rPr lang="en-US" dirty="0"/>
              <a:t>module </a:t>
            </a:r>
            <a:r>
              <a:rPr lang="en-US" dirty="0" err="1"/>
              <a:t>hdl</a:t>
            </a:r>
            <a:endParaRPr lang="en-US" dirty="0"/>
          </a:p>
          <a:p>
            <a:pPr lvl="1"/>
            <a:r>
              <a:rPr lang="en-US" dirty="0"/>
              <a:t>testbench</a:t>
            </a:r>
          </a:p>
          <a:p>
            <a:pPr lvl="1"/>
            <a:r>
              <a:rPr lang="en-US" dirty="0"/>
              <a:t>Waveform config file .</a:t>
            </a:r>
            <a:r>
              <a:rPr lang="en-US" dirty="0" err="1"/>
              <a:t>Wcfg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Makefile.srcs</a:t>
            </a:r>
            <a:r>
              <a:rPr lang="en-US" dirty="0"/>
              <a:t> (more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222727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3236-D4B1-418A-81DC-B6199878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big file commits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28CE2-EB84-4E18-88E5-C70B61765E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Git limits storage of large files to 100 MB. This problem will only come up when you push files. To avoid having to remove a file 20 commits back, regularly push to the server.</a:t>
            </a:r>
          </a:p>
          <a:p>
            <a:r>
              <a:rPr lang="en-US" dirty="0"/>
              <a:t>If you do end up having a large file, you'll get the following error</a:t>
            </a:r>
          </a:p>
          <a:p>
            <a:pPr marL="0" indent="0">
              <a:buNone/>
            </a:pPr>
            <a:r>
              <a:rPr lang="en-US" dirty="0"/>
              <a:t>remote: error: File 28b5268c3f9ea75643e90629ff9c9d093a24213d is 107.00 MB; this exceeds GitHub's file size limit of 100.00 MB</a:t>
            </a:r>
          </a:p>
          <a:p>
            <a:pPr marL="0" indent="0">
              <a:buNone/>
            </a:pPr>
            <a:r>
              <a:rPr lang="en-US" dirty="0"/>
              <a:t>Use</a:t>
            </a:r>
          </a:p>
          <a:p>
            <a:pPr marL="0" indent="0">
              <a:buNone/>
            </a:pPr>
            <a:r>
              <a:rPr lang="en-US" dirty="0"/>
              <a:t>git rev-list --all | while read rev; do git ls-tree -r $rev | grep 28b5268c3f9ea75643e90629ff9c9d093a24213d &amp;&amp; echo "Found in commit $rev"; done</a:t>
            </a:r>
          </a:p>
          <a:p>
            <a:pPr marL="0" indent="0">
              <a:buNone/>
            </a:pPr>
            <a:r>
              <a:rPr lang="en-US" dirty="0"/>
              <a:t>Find earliest commit with the file(s)</a:t>
            </a:r>
          </a:p>
          <a:p>
            <a:pPr marL="0" indent="0">
              <a:buNone/>
            </a:pPr>
            <a:r>
              <a:rPr lang="en-US" dirty="0"/>
              <a:t>Delete the files from the current repo</a:t>
            </a:r>
          </a:p>
          <a:p>
            <a:pPr marL="0" indent="0">
              <a:buNone/>
            </a:pPr>
            <a:r>
              <a:rPr lang="en-US" dirty="0"/>
              <a:t>Reset to that commit</a:t>
            </a:r>
          </a:p>
          <a:p>
            <a:pPr marL="0" indent="0">
              <a:buNone/>
            </a:pPr>
            <a:r>
              <a:rPr lang="en-US" dirty="0"/>
              <a:t>commit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438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756CC-4AC8-C100-2766-4C37F7A61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42409-77F7-2883-7D29-4C272D026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 we use a </a:t>
            </a:r>
            <a:r>
              <a:rPr lang="en-US" dirty="0" err="1"/>
              <a:t>sys_defs.svh</a:t>
            </a:r>
            <a:r>
              <a:rPr lang="en-US" dirty="0"/>
              <a:t> file to hold the global variables. This typically doesn’t work well with </a:t>
            </a:r>
            <a:r>
              <a:rPr lang="en-US" dirty="0" err="1"/>
              <a:t>usrp</a:t>
            </a:r>
            <a:r>
              <a:rPr lang="en-US" dirty="0"/>
              <a:t> HDL compilation, so I’d advise using packages or parameterized values instead</a:t>
            </a:r>
          </a:p>
          <a:p>
            <a:r>
              <a:rPr lang="en-US" dirty="0"/>
              <a:t>Warning about parameterized modules: I once ran into a bug where the default parameter was NOT overridden by the parameter values given at instantiation. This can lead to very cryptic bugs.</a:t>
            </a:r>
          </a:p>
        </p:txBody>
      </p:sp>
    </p:spTree>
    <p:extLst>
      <p:ext uri="{BB962C8B-B14F-4D97-AF65-F5344CB8AC3E}">
        <p14:creationId xmlns:p14="http://schemas.microsoft.com/office/powerpoint/2010/main" val="1179139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CAF40-5BDE-4E60-AF65-97C1ABC1E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AF2D7-D7C0-49EB-81D5-09B9D05DF6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42938E-4F52-4B40-9F6D-8B9B21789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152" y="513918"/>
            <a:ext cx="6204964" cy="56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676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E329C-ADB8-46C8-AC21-C08EB97E8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8F0D7-0791-4C00-94FC-3797D02AD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module MULTIPLY;</a:t>
            </a:r>
          </a:p>
          <a:p>
            <a:pPr marL="0" indent="0">
              <a:buNone/>
            </a:pP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  reg signed [3:0] a = 3;</a:t>
            </a:r>
          </a:p>
          <a:p>
            <a:pPr marL="0" indent="0">
              <a:buNone/>
            </a:pPr>
            <a:r>
              <a:rPr lang="en-US" dirty="0"/>
              <a:t>  reg signed [7:0] b = 63;</a:t>
            </a:r>
          </a:p>
          <a:p>
            <a:pPr marL="0" indent="0">
              <a:buNone/>
            </a:pPr>
            <a:r>
              <a:rPr lang="en-US" dirty="0"/>
              <a:t>  wire signed [3:0] c;</a:t>
            </a:r>
          </a:p>
          <a:p>
            <a:pPr marL="0" indent="0">
              <a:buNone/>
            </a:pPr>
            <a:r>
              <a:rPr lang="en-US" dirty="0"/>
              <a:t>  wire signed [12-1:0] d;</a:t>
            </a:r>
          </a:p>
          <a:p>
            <a:pPr marL="0" indent="0">
              <a:buNone/>
            </a:pPr>
            <a:r>
              <a:rPr lang="en-US" dirty="0"/>
              <a:t>  assign c = a*b;</a:t>
            </a:r>
          </a:p>
          <a:p>
            <a:pPr marL="0" indent="0">
              <a:buNone/>
            </a:pPr>
            <a:r>
              <a:rPr lang="en-US" dirty="0"/>
              <a:t>  assign d = a*b;</a:t>
            </a:r>
          </a:p>
          <a:p>
            <a:pPr marL="0" indent="0">
              <a:buNone/>
            </a:pP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  initial begin</a:t>
            </a:r>
          </a:p>
          <a:p>
            <a:pPr marL="0" indent="0">
              <a:buNone/>
            </a:pPr>
            <a:r>
              <a:rPr lang="en-US" dirty="0"/>
              <a:t>    #1 $display("c= %b", c);</a:t>
            </a:r>
          </a:p>
          <a:p>
            <a:pPr marL="0" indent="0">
              <a:buNone/>
            </a:pPr>
            <a:r>
              <a:rPr lang="en-US" dirty="0"/>
              <a:t>    #1 $display("c= %b", d);</a:t>
            </a:r>
          </a:p>
          <a:p>
            <a:pPr marL="0" indent="0">
              <a:buNone/>
            </a:pPr>
            <a:r>
              <a:rPr lang="en-US" dirty="0"/>
              <a:t>  end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dirty="0">
                <a:hlinkClick r:id="rId2"/>
              </a:rPr>
              <a:t>https://www.edaplayground.com/x/9KTz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706F53-D62D-43B0-BD09-0F8C9C920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49" y="592281"/>
            <a:ext cx="6178658" cy="3213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7651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7E2C-C477-4F37-AD89-D474524F4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Signed unsigned multiplication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18384-4C9E-4910-94BA-77962302C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First convert to signed</a:t>
            </a:r>
          </a:p>
          <a:p>
            <a:pPr marL="0" indent="0">
              <a:buNone/>
            </a:pPr>
            <a:r>
              <a:rPr lang="en-US" dirty="0"/>
              <a:t>module top;</a:t>
            </a:r>
          </a:p>
          <a:p>
            <a:pPr marL="0" indent="0">
              <a:buNone/>
            </a:pPr>
            <a:r>
              <a:rPr lang="en-US" dirty="0"/>
              <a:t>   bit signed [5:0] a = -1;</a:t>
            </a:r>
          </a:p>
          <a:p>
            <a:pPr marL="0" indent="0">
              <a:buNone/>
            </a:pPr>
            <a:r>
              <a:rPr lang="en-US" dirty="0"/>
              <a:t>   bit [5:0]        b = 63;</a:t>
            </a:r>
          </a:p>
          <a:p>
            <a:pPr marL="0" indent="0">
              <a:buNone/>
            </a:pPr>
            <a:r>
              <a:rPr lang="en-US" dirty="0"/>
              <a:t>   bit signed [6:0] c;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initial begin</a:t>
            </a:r>
          </a:p>
          <a:p>
            <a:pPr marL="0" indent="0">
              <a:buNone/>
            </a:pPr>
            <a:r>
              <a:rPr lang="en-US" dirty="0"/>
              <a:t>      c = a*$signed({1'b0,b});</a:t>
            </a:r>
          </a:p>
          <a:p>
            <a:pPr marL="0" indent="0">
              <a:buNone/>
            </a:pPr>
            <a:r>
              <a:rPr lang="en-US" dirty="0"/>
              <a:t>      $display("%b %d",</a:t>
            </a:r>
            <a:r>
              <a:rPr lang="en-US" dirty="0" err="1"/>
              <a:t>c,c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   end</a:t>
            </a:r>
          </a:p>
          <a:p>
            <a:pPr marL="0" indent="0">
              <a:buNone/>
            </a:pPr>
            <a:r>
              <a:rPr lang="en-US" dirty="0" err="1"/>
              <a:t>Endmodule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Don’t do this, per </a:t>
            </a:r>
            <a:r>
              <a:rPr lang="en-US" dirty="0">
                <a:solidFill>
                  <a:srgbClr val="FF0000"/>
                </a:solidFill>
                <a:hlinkClick r:id="rId2"/>
              </a:rPr>
              <a:t>https://docs.amd.com/v/u/en-US/ug479_7Series_DSP48E1</a:t>
            </a:r>
            <a:r>
              <a:rPr lang="en-US" dirty="0">
                <a:solidFill>
                  <a:srgbClr val="FF0000"/>
                </a:solidFill>
              </a:rPr>
              <a:t> , design recommendations, signed bits don’t play well with dsp48E</a:t>
            </a:r>
          </a:p>
        </p:txBody>
      </p:sp>
    </p:spTree>
    <p:extLst>
      <p:ext uri="{BB962C8B-B14F-4D97-AF65-F5344CB8AC3E}">
        <p14:creationId xmlns:p14="http://schemas.microsoft.com/office/powerpoint/2010/main" val="2558172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1C29D-65A2-48C6-91B8-96445764A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F022-C936-4351-8BB4-D9C6424EA3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Unsigned </a:t>
            </a:r>
            <a:r>
              <a:rPr lang="en-US" dirty="0" err="1"/>
              <a:t>mult</a:t>
            </a:r>
            <a:r>
              <a:rPr lang="en-US" dirty="0"/>
              <a:t> is different than signed, so we have to explicitly cast to signed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879D37-11FD-4146-9B75-8521EE88D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415" y="3070346"/>
            <a:ext cx="8745170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3348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4E77D-8F34-4A70-AD95-E8A805151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Fixed point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0CF48-45F9-43B5-A28F-65BEAB627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Subtle changes in the order of certain operations will change the result, leading to small differences between test vector and behavior</a:t>
            </a:r>
          </a:p>
          <a:p>
            <a:pPr marL="0" indent="0">
              <a:buNone/>
            </a:pPr>
            <a:r>
              <a:rPr lang="en-US" dirty="0"/>
              <a:t>&gt;&gt; dec2bin_str(</a:t>
            </a:r>
            <a:r>
              <a:rPr lang="en-US" dirty="0" err="1"/>
              <a:t>shift_fp</a:t>
            </a:r>
            <a:r>
              <a:rPr lang="en-US" dirty="0"/>
              <a:t>(cos(2*pi*1/336),0,16,14),16,14)</a:t>
            </a:r>
          </a:p>
          <a:p>
            <a:pPr marL="0" indent="0">
              <a:buNone/>
            </a:pPr>
            <a:r>
              <a:rPr lang="en-US" dirty="0" err="1"/>
              <a:t>ans</a:t>
            </a:r>
            <a:r>
              <a:rPr lang="en-US" dirty="0"/>
              <a:t> = '0011111111111101'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&gt;&gt; dec2bin_str(</a:t>
            </a:r>
            <a:r>
              <a:rPr lang="en-US" dirty="0" err="1"/>
              <a:t>shift_fp</a:t>
            </a:r>
            <a:r>
              <a:rPr lang="en-US" dirty="0"/>
              <a:t>(-cos(2*pi*1/336),0,16,14),16,14)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ans</a:t>
            </a:r>
            <a:r>
              <a:rPr lang="en-US" dirty="0"/>
              <a:t> = '1100000000000010’</a:t>
            </a:r>
          </a:p>
          <a:p>
            <a:pPr marL="0" indent="0">
              <a:buNone/>
            </a:pPr>
            <a:r>
              <a:rPr lang="en-US" dirty="0"/>
              <a:t>The bits are merely flipped, whereas we expect a “+1”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7368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73023-70BF-B021-5D79-F28D9811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Verilog advice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AF08F-B4D0-9064-519F-1062F65EC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https://nandland.com/coding-style-guidelines-for-vhdl-verilog/</a:t>
            </a:r>
            <a:endParaRPr lang="en-US" dirty="0"/>
          </a:p>
          <a:p>
            <a:r>
              <a:rPr lang="en-US" dirty="0">
                <a:hlinkClick r:id="rId3"/>
              </a:rPr>
              <a:t>https://projectf.io/posts/multiplication-fpga-dsps/</a:t>
            </a:r>
            <a:r>
              <a:rPr lang="en-US" dirty="0"/>
              <a:t> </a:t>
            </a:r>
          </a:p>
          <a:p>
            <a:r>
              <a:rPr lang="en-US" dirty="0">
                <a:hlinkClick r:id="rId4"/>
              </a:rPr>
              <a:t>https://docs.xilinx.com/r/en-US/ug901-vivado-synthesis/Multipliers-Coding-Examples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07489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7F3C-E4E3-AB2D-7190-335EDA523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Matlab</a:t>
            </a:r>
            <a:r>
              <a:rPr lang="en-US" dirty="0"/>
              <a:t> sim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D95F8-83B2-F1AD-590D-AD8099438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OSLA, make a </a:t>
            </a:r>
            <a:r>
              <a:rPr lang="en-US" dirty="0" err="1"/>
              <a:t>matlab</a:t>
            </a:r>
            <a:r>
              <a:rPr lang="en-US" dirty="0"/>
              <a:t> folder</a:t>
            </a:r>
          </a:p>
          <a:p>
            <a:r>
              <a:rPr lang="en-US" dirty="0"/>
              <a:t>Should have a subfolder </a:t>
            </a:r>
            <a:r>
              <a:rPr lang="en-US" dirty="0" err="1"/>
              <a:t>testvectors</a:t>
            </a:r>
            <a:r>
              <a:rPr lang="en-US" dirty="0"/>
              <a:t>, as well as your sim</a:t>
            </a:r>
          </a:p>
          <a:p>
            <a:r>
              <a:rPr lang="en-US" dirty="0" err="1"/>
              <a:t>testvectors</a:t>
            </a:r>
            <a:r>
              <a:rPr lang="en-US" dirty="0"/>
              <a:t> will have subfolders with all of your various simulations</a:t>
            </a:r>
          </a:p>
          <a:p>
            <a:r>
              <a:rPr lang="en-US" dirty="0"/>
              <a:t>This is stimulus-based verification, as opposed to formal verification</a:t>
            </a:r>
          </a:p>
          <a:p>
            <a:pPr lvl="1"/>
            <a:r>
              <a:rPr lang="en-US" dirty="0"/>
              <a:t>Why not formal? A: I don’t know how 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27044-8AC5-9452-17AC-DB3597E00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647" y="3914364"/>
            <a:ext cx="4601217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467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EBD59-C5E4-025F-FD40-9DB433BCC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4C673-08A1-A7A2-3355-7D74FC1A13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 testbench (how to do this…)</a:t>
            </a:r>
          </a:p>
          <a:p>
            <a:r>
              <a:rPr lang="en-US" dirty="0"/>
              <a:t>To access test vectors</a:t>
            </a:r>
          </a:p>
          <a:p>
            <a:pPr lvl="1"/>
            <a:r>
              <a:rPr lang="en-US" dirty="0"/>
              <a:t>$</a:t>
            </a:r>
            <a:r>
              <a:rPr lang="en-US" dirty="0" err="1"/>
              <a:t>readmemb</a:t>
            </a:r>
            <a:r>
              <a:rPr lang="en-US" dirty="0"/>
              <a:t>("/</a:t>
            </a:r>
            <a:r>
              <a:rPr lang="en-US" dirty="0" err="1"/>
              <a:t>afs</a:t>
            </a:r>
            <a:r>
              <a:rPr lang="en-US" dirty="0"/>
              <a:t>/eecs.umich.edu/</a:t>
            </a:r>
            <a:r>
              <a:rPr lang="en-US" dirty="0" err="1"/>
              <a:t>spvlsi</a:t>
            </a:r>
            <a:r>
              <a:rPr lang="en-US" dirty="0"/>
              <a:t>/users/</a:t>
            </a:r>
            <a:r>
              <a:rPr lang="en-US" dirty="0" err="1"/>
              <a:t>wangston</a:t>
            </a:r>
            <a:r>
              <a:rPr lang="en-US" dirty="0"/>
              <a:t>/OSLA/</a:t>
            </a:r>
            <a:r>
              <a:rPr lang="en-US" dirty="0" err="1"/>
              <a:t>bpsk</a:t>
            </a:r>
            <a:r>
              <a:rPr lang="en-US" dirty="0"/>
              <a:t>/</a:t>
            </a:r>
            <a:r>
              <a:rPr lang="en-US" dirty="0" err="1"/>
              <a:t>matlab</a:t>
            </a:r>
            <a:r>
              <a:rPr lang="en-US" dirty="0"/>
              <a:t>/</a:t>
            </a:r>
            <a:r>
              <a:rPr lang="en-US" dirty="0" err="1"/>
              <a:t>testvectors</a:t>
            </a:r>
            <a:r>
              <a:rPr lang="en-US" dirty="0"/>
              <a:t>/esn0_1/</a:t>
            </a:r>
            <a:r>
              <a:rPr lang="en-US" dirty="0" err="1"/>
              <a:t>source_input.mem</a:t>
            </a:r>
            <a:r>
              <a:rPr lang="en-US" dirty="0"/>
              <a:t>", </a:t>
            </a:r>
            <a:r>
              <a:rPr lang="en-US" dirty="0" err="1"/>
              <a:t>tb_input</a:t>
            </a:r>
            <a:r>
              <a:rPr lang="en-US" dirty="0"/>
              <a:t>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8799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71F72-61B7-4D35-BFDD-7E468F825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halting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625C8-D2E5-4BD7-8ADA-AC8AFCF5E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simulation step gets stuck at “executing analysis and compilation step”.</a:t>
            </a:r>
          </a:p>
          <a:p>
            <a:r>
              <a:rPr lang="en-US" dirty="0"/>
              <a:t>Solution: right click simulation and hit reset simulation</a:t>
            </a:r>
          </a:p>
        </p:txBody>
      </p:sp>
    </p:spTree>
    <p:extLst>
      <p:ext uri="{BB962C8B-B14F-4D97-AF65-F5344CB8AC3E}">
        <p14:creationId xmlns:p14="http://schemas.microsoft.com/office/powerpoint/2010/main" val="28232806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2134E-B66A-4DB5-A6F4-B1E3A07E2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C040F-2146-4F9E-BE12-6DFF40A32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FPGA designs use prebuilt hardware on the FPGA chip</a:t>
            </a:r>
          </a:p>
          <a:p>
            <a:pPr lvl="1"/>
            <a:r>
              <a:rPr lang="en-US" dirty="0"/>
              <a:t>Furthermore there is RTL IP which is premade code that can be used to perform certain difficult tasks</a:t>
            </a:r>
          </a:p>
          <a:p>
            <a:pPr lvl="2"/>
            <a:r>
              <a:rPr lang="en-US" dirty="0"/>
              <a:t>Ex: Viterbi decoding, direct digital synthesis</a:t>
            </a:r>
          </a:p>
          <a:p>
            <a:pPr lvl="1"/>
            <a:r>
              <a:rPr lang="en-US" dirty="0"/>
              <a:t>This code is more reliable and efficient since it is built for the FPGA resources</a:t>
            </a:r>
          </a:p>
          <a:p>
            <a:r>
              <a:rPr lang="en-US" dirty="0"/>
              <a:t>To shorten development time, understand and utilize these IP’s written by Ettus and Xilinx</a:t>
            </a:r>
          </a:p>
          <a:p>
            <a:r>
              <a:rPr lang="en-US" dirty="0"/>
              <a:t>The only problem is that we don’t have clear models of the IP behavior, and also simulating with </a:t>
            </a:r>
            <a:r>
              <a:rPr lang="en-US" dirty="0" err="1"/>
              <a:t>usrp</a:t>
            </a:r>
            <a:r>
              <a:rPr lang="en-US" dirty="0"/>
              <a:t> libraries is hard (have to compile and run using a </a:t>
            </a:r>
            <a:r>
              <a:rPr lang="en-US" dirty="0" err="1"/>
              <a:t>makefile</a:t>
            </a:r>
            <a:r>
              <a:rPr lang="en-US" dirty="0"/>
              <a:t>) (ask </a:t>
            </a:r>
            <a:r>
              <a:rPr lang="en-US" dirty="0" err="1"/>
              <a:t>demba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4870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C4148-7BCB-47E1-AAAD-C08B425C0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C2A17-1375-4849-A48B-C2DB1A633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instantiate large amounts of memory, it has to be done with a very specific port and behavioral description. Otherwise LUT’s will be synthesized and your design might run out of resources when generating the </a:t>
            </a:r>
            <a:r>
              <a:rPr lang="en-US" dirty="0" err="1"/>
              <a:t>bitfile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https://docs.amd.com/r/en-US/ug901-vivado-synthesis/Single-Port-Block-RAM-with-Resettable-Data-Output-Verilog</a:t>
            </a:r>
          </a:p>
        </p:txBody>
      </p:sp>
    </p:spTree>
    <p:extLst>
      <p:ext uri="{BB962C8B-B14F-4D97-AF65-F5344CB8AC3E}">
        <p14:creationId xmlns:p14="http://schemas.microsoft.com/office/powerpoint/2010/main" val="38140797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E66F-3CB6-4CA2-91C9-C7DD14ED8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Direct Digital Synthesis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A26FA-D2CD-4692-B491-891D50B93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Xilinx has a DDS IP, which Ettus then wrote wrapper code for. It comes with a phase generator, but typically we perform the phase generation ourselves and just use the lookup table </a:t>
            </a:r>
            <a:r>
              <a:rPr lang="en-US" dirty="0" err="1"/>
              <a:t>dds_sin_cos_lut_only</a:t>
            </a:r>
            <a:endParaRPr lang="en-US" dirty="0"/>
          </a:p>
          <a:p>
            <a:r>
              <a:rPr lang="en-US" dirty="0"/>
              <a:t>Seems IP is already instantiated, so we are stuck with the params they chose. </a:t>
            </a:r>
          </a:p>
          <a:p>
            <a:pPr lvl="1"/>
            <a:r>
              <a:rPr lang="en-US" dirty="0"/>
              <a:t>Input is unsigned 24</a:t>
            </a:r>
          </a:p>
          <a:p>
            <a:pPr lvl="1"/>
            <a:r>
              <a:rPr lang="en-US" dirty="0"/>
              <a:t>Output is {Q,I}, where Q and I are both signed 16 (14 frac bits, </a:t>
            </a:r>
            <a:r>
              <a:rPr lang="en-US" dirty="0">
                <a:hlinkClick r:id="rId3"/>
              </a:rPr>
              <a:t>since </a:t>
            </a:r>
            <a:r>
              <a:rPr lang="en-US" dirty="0" err="1">
                <a:hlinkClick r:id="rId3"/>
              </a:rPr>
              <a:t>ettus</a:t>
            </a:r>
            <a:r>
              <a:rPr lang="en-US" dirty="0">
                <a:hlinkClick r:id="rId3"/>
              </a:rPr>
              <a:t> set IP to unit circle amplitude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35240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90A43-6680-BA0C-5932-788C646CE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add UHD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FF58E-A526-8A7D-302B-858515B0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recommend making UHD a submodule of your project</a:t>
            </a:r>
          </a:p>
          <a:p>
            <a:r>
              <a:rPr lang="en-US" dirty="0"/>
              <a:t>Others have made their project a submodule of UHD, but that doesn’t make sense. Your project </a:t>
            </a:r>
            <a:r>
              <a:rPr lang="en-US" b="1" dirty="0"/>
              <a:t>contains</a:t>
            </a:r>
            <a:r>
              <a:rPr lang="en-US" dirty="0"/>
              <a:t> UHD, not the other way around. Especially if you do more than prototyping (e.g. algorithm research)</a:t>
            </a:r>
          </a:p>
          <a:p>
            <a:r>
              <a:rPr lang="en-US" dirty="0"/>
              <a:t>In the </a:t>
            </a:r>
            <a:r>
              <a:rPr lang="en-US" dirty="0" err="1"/>
              <a:t>uhd</a:t>
            </a:r>
            <a:r>
              <a:rPr lang="en-US" dirty="0"/>
              <a:t> submodule, I add branches named </a:t>
            </a:r>
            <a:r>
              <a:rPr lang="en-US" dirty="0" err="1"/>
              <a:t>wangstonn</a:t>
            </a:r>
            <a:r>
              <a:rPr lang="en-US" dirty="0"/>
              <a:t>/setup1,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Much easier to differentiate your branches from UHD branches</a:t>
            </a:r>
          </a:p>
          <a:p>
            <a:r>
              <a:rPr lang="en-US" dirty="0"/>
              <a:t>git remote –v should return</a:t>
            </a:r>
          </a:p>
          <a:p>
            <a:r>
              <a:rPr lang="en-US" dirty="0"/>
              <a:t>Now set </a:t>
            </a:r>
            <a:r>
              <a:rPr lang="en-US" dirty="0" err="1"/>
              <a:t>uhd</a:t>
            </a:r>
            <a:r>
              <a:rPr lang="en-US" dirty="0"/>
              <a:t> to be the upstream </a:t>
            </a:r>
          </a:p>
          <a:p>
            <a:pPr lvl="1"/>
            <a:r>
              <a:rPr lang="en-US" dirty="0"/>
              <a:t>git remote add upstream </a:t>
            </a:r>
            <a:r>
              <a:rPr lang="en-US" dirty="0" err="1">
                <a:hlinkClick r:id="rId2"/>
              </a:rPr>
              <a:t>git@github.com:EttusResearch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uhd.git</a:t>
            </a:r>
            <a:endParaRPr lang="en-US" dirty="0"/>
          </a:p>
          <a:p>
            <a:pPr lvl="1"/>
            <a:r>
              <a:rPr lang="en-US" dirty="0"/>
              <a:t>This essentially adds another repository we can pull from. </a:t>
            </a:r>
          </a:p>
          <a:p>
            <a:pPr marL="457200" lvl="1" indent="0">
              <a:buNone/>
            </a:pPr>
            <a:r>
              <a:rPr lang="en-US" dirty="0"/>
              <a:t>	(next slide explains why)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117BEC-728D-CCAA-D2E6-ACFBC3E861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9641" y="4123944"/>
            <a:ext cx="4465195" cy="47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5366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1E9A1-B912-8728-5009-950D650F8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UHD git setup continued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79485-F3EC-BC65-3E25-2B2A229F2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472" y="1833447"/>
            <a:ext cx="86989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Ettus periodically releases UHD updates with bugfixes. (UHD 4.4, 4.5,etc)</a:t>
            </a:r>
          </a:p>
          <a:p>
            <a:r>
              <a:rPr lang="en-US" dirty="0"/>
              <a:t>While they do keep branches with stable releases, it is very hard to upgrade to the next release from these branches (lots of merge conflicts due to hotfixes post release).</a:t>
            </a:r>
          </a:p>
          <a:p>
            <a:r>
              <a:rPr lang="en-US" dirty="0"/>
              <a:t>On the other hand, master seems to be continuously updated and contains each release in its history</a:t>
            </a:r>
          </a:p>
          <a:p>
            <a:r>
              <a:rPr lang="en-US" dirty="0"/>
              <a:t>Because of this, we want to develop on top of upstream/master.</a:t>
            </a:r>
          </a:p>
          <a:p>
            <a:pPr lvl="1"/>
            <a:r>
              <a:rPr lang="en-US" dirty="0"/>
              <a:t>to start: Git checkout –b &lt;</a:t>
            </a:r>
            <a:r>
              <a:rPr lang="en-US" dirty="0" err="1"/>
              <a:t>mybranch</a:t>
            </a:r>
            <a:r>
              <a:rPr lang="en-US" dirty="0"/>
              <a:t>&gt; upstream/master</a:t>
            </a:r>
          </a:p>
          <a:p>
            <a:pPr lvl="1"/>
            <a:r>
              <a:rPr lang="en-US" dirty="0"/>
              <a:t>to update: fetch then merge upstream/master with &lt;</a:t>
            </a:r>
            <a:r>
              <a:rPr lang="en-US" dirty="0" err="1"/>
              <a:t>mybranch</a:t>
            </a:r>
            <a:r>
              <a:rPr lang="en-US" dirty="0"/>
              <a:t>&gt;</a:t>
            </a:r>
          </a:p>
          <a:p>
            <a:r>
              <a:rPr lang="en-US" dirty="0"/>
              <a:t>See the </a:t>
            </a:r>
            <a:r>
              <a:rPr lang="en-US" dirty="0" err="1"/>
              <a:t>cherrypicking</a:t>
            </a:r>
            <a:r>
              <a:rPr lang="en-US" dirty="0"/>
              <a:t> slide if you didn’t do this</a:t>
            </a:r>
          </a:p>
          <a:p>
            <a:pPr marL="457200" lvl="1" indent="0">
              <a:buNone/>
            </a:pPr>
            <a:r>
              <a:rPr lang="en-US" dirty="0"/>
              <a:t>	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FCA9C5F-D3CA-635F-818E-C78CF61CF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8490" y="365125"/>
            <a:ext cx="2677102" cy="160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59191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3F08-F638-4311-BE1E-3C72DA010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UHD to host computers (HSK laptops only)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9E592-D033-4C76-8B98-15BEBB8342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First, run ./</a:t>
            </a:r>
            <a:r>
              <a:rPr lang="en-US" dirty="0" err="1"/>
              <a:t>uhd_find_devices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git clone &lt;link to your </a:t>
            </a:r>
            <a:r>
              <a:rPr lang="en-US" dirty="0" err="1"/>
              <a:t>uhd</a:t>
            </a:r>
            <a:r>
              <a:rPr lang="en-US" dirty="0"/>
              <a:t> repo&gt;</a:t>
            </a:r>
          </a:p>
          <a:p>
            <a:pPr marL="0" indent="0">
              <a:buNone/>
            </a:pPr>
            <a:r>
              <a:rPr lang="en-US" dirty="0"/>
              <a:t>cd &lt;</a:t>
            </a:r>
            <a:r>
              <a:rPr lang="en-US" dirty="0" err="1"/>
              <a:t>uhd</a:t>
            </a:r>
            <a:r>
              <a:rPr lang="en-US" dirty="0"/>
              <a:t>-repo-path&gt;/host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the </a:t>
            </a:r>
            <a:r>
              <a:rPr lang="en-US" dirty="0" err="1"/>
              <a:t>uhd</a:t>
            </a:r>
            <a:r>
              <a:rPr lang="en-US" dirty="0"/>
              <a:t> version you want is installed, see below. Else, go to next slide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append the following two lines to .</a:t>
            </a:r>
            <a:r>
              <a:rPr lang="en-US" dirty="0" err="1"/>
              <a:t>bashrc</a:t>
            </a:r>
            <a:r>
              <a:rPr lang="en-US" dirty="0"/>
              <a:t> (this allows us to choose which </a:t>
            </a:r>
            <a:r>
              <a:rPr lang="en-US" dirty="0" err="1"/>
              <a:t>uhd</a:t>
            </a:r>
            <a:r>
              <a:rPr lang="en-US" dirty="0"/>
              <a:t> version to use if there are multiple)</a:t>
            </a:r>
          </a:p>
          <a:p>
            <a:pPr marL="0" indent="0">
              <a:buNone/>
            </a:pPr>
            <a:r>
              <a:rPr lang="en-US" dirty="0"/>
              <a:t>export LD_LIBRARY_PATH=$HOME/.local/lib/uhd-4.5/lib:$LD_LIBRARY_PATH</a:t>
            </a:r>
          </a:p>
          <a:p>
            <a:pPr marL="0" indent="0">
              <a:buNone/>
            </a:pPr>
            <a:r>
              <a:rPr lang="en-US" dirty="0"/>
              <a:t>export PATH="$HOME/.local/lib/uhd-4.5/bin:$PATH“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After this, you should be able to run </a:t>
            </a:r>
            <a:r>
              <a:rPr lang="en-US" dirty="0" err="1"/>
              <a:t>uhd_find</a:t>
            </a:r>
            <a:r>
              <a:rPr lang="en-US" dirty="0"/>
              <a:t> devices and see the version</a:t>
            </a:r>
          </a:p>
        </p:txBody>
      </p:sp>
    </p:spTree>
    <p:extLst>
      <p:ext uri="{BB962C8B-B14F-4D97-AF65-F5344CB8AC3E}">
        <p14:creationId xmlns:p14="http://schemas.microsoft.com/office/powerpoint/2010/main" val="32467561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CD654-E46E-4CA7-B2C4-4CC6CD214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UHD installs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51D50C-D97C-4A89-8C50-7C8F82466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If the correct version of </a:t>
            </a:r>
            <a:r>
              <a:rPr lang="en-US" dirty="0" err="1"/>
              <a:t>uhd</a:t>
            </a:r>
            <a:r>
              <a:rPr lang="en-US" dirty="0"/>
              <a:t> isn’t installed, now that we have loaded the </a:t>
            </a:r>
            <a:r>
              <a:rPr lang="en-US" dirty="0" err="1"/>
              <a:t>c++</a:t>
            </a:r>
            <a:r>
              <a:rPr lang="en-US" dirty="0"/>
              <a:t> code from the repo, we need to install so that we can use the functions. For example, if using uhd-4.5: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mkdir</a:t>
            </a:r>
            <a:r>
              <a:rPr lang="en-US" dirty="0"/>
              <a:t> build</a:t>
            </a:r>
          </a:p>
          <a:p>
            <a:pPr marL="0" indent="0">
              <a:buNone/>
            </a:pPr>
            <a:r>
              <a:rPr lang="en-US" dirty="0"/>
              <a:t>cd build</a:t>
            </a:r>
          </a:p>
          <a:p>
            <a:pPr marL="0" indent="0">
              <a:buNone/>
            </a:pPr>
            <a:r>
              <a:rPr lang="en-US" dirty="0" err="1"/>
              <a:t>cmake</a:t>
            </a:r>
            <a:r>
              <a:rPr lang="en-US" dirty="0"/>
              <a:t> -DCMAKE_INSTALL_PREFIX=$HOME/.local/lib/uhd-4.5  ../</a:t>
            </a:r>
          </a:p>
          <a:p>
            <a:pPr marL="0" indent="0">
              <a:buNone/>
            </a:pPr>
            <a:r>
              <a:rPr lang="en-US" dirty="0"/>
              <a:t>make</a:t>
            </a:r>
          </a:p>
          <a:p>
            <a:pPr marL="0" indent="0">
              <a:buNone/>
            </a:pPr>
            <a:r>
              <a:rPr lang="en-US" dirty="0"/>
              <a:t>make test</a:t>
            </a:r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make install</a:t>
            </a:r>
          </a:p>
          <a:p>
            <a:pPr marL="0" indent="0">
              <a:buNone/>
            </a:pP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ldconfig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09433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FED7A-FA21-4165-95ED-14D70C887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connection (HSK laptops)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8F31D-C469-4692-BEF5-EB31284A1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HSK laptops have one ethernet card (</a:t>
            </a:r>
            <a:r>
              <a:rPr lang="en-US" dirty="0" err="1"/>
              <a:t>demba</a:t>
            </a:r>
            <a:r>
              <a:rPr lang="en-US" dirty="0"/>
              <a:t> check?)</a:t>
            </a:r>
          </a:p>
          <a:p>
            <a:pPr marL="0" indent="0">
              <a:buNone/>
            </a:pPr>
            <a:r>
              <a:rPr lang="en-US" dirty="0"/>
              <a:t>Run </a:t>
            </a:r>
            <a:r>
              <a:rPr lang="en-US" dirty="0" err="1"/>
              <a:t>uhd_usrp_probe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If nothing shows up, go to settings&gt;network&gt;wired&gt;add new connection</a:t>
            </a:r>
          </a:p>
          <a:p>
            <a:pPr marL="0" indent="0">
              <a:buNone/>
            </a:pPr>
            <a:r>
              <a:rPr lang="en-US" dirty="0"/>
              <a:t>Give the new connection a name (USRP4343, </a:t>
            </a:r>
            <a:r>
              <a:rPr lang="en-US" dirty="0" err="1"/>
              <a:t>etc</a:t>
            </a:r>
            <a:r>
              <a:rPr lang="en-US" dirty="0"/>
              <a:t>), then on ipv4, select manual and input the </a:t>
            </a:r>
            <a:r>
              <a:rPr lang="en-US" dirty="0" err="1"/>
              <a:t>ip</a:t>
            </a:r>
            <a:r>
              <a:rPr lang="en-US" dirty="0"/>
              <a:t> and subnet mask 255.255.255.0</a:t>
            </a:r>
          </a:p>
          <a:p>
            <a:pPr marL="0" indent="0">
              <a:buNone/>
            </a:pPr>
            <a:r>
              <a:rPr lang="en-US" dirty="0"/>
              <a:t>Select connect automatically if desired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Now </a:t>
            </a:r>
            <a:r>
              <a:rPr lang="en-US" dirty="0" err="1"/>
              <a:t>uhd_usrp_probe</a:t>
            </a:r>
            <a:r>
              <a:rPr lang="en-US" dirty="0"/>
              <a:t> should successfully identify the </a:t>
            </a:r>
            <a:r>
              <a:rPr lang="en-US" dirty="0" err="1"/>
              <a:t>usrp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25070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6B023-DC6A-41F3-4AE9-E867DC09A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D3D4B-9539-38B4-187E-83D8AAB01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uhd</a:t>
            </a:r>
            <a:r>
              <a:rPr lang="en-US" dirty="0"/>
              <a:t>/</a:t>
            </a:r>
            <a:r>
              <a:rPr lang="en-US" dirty="0" err="1"/>
              <a:t>fpga</a:t>
            </a:r>
            <a:r>
              <a:rPr lang="en-US" dirty="0"/>
              <a:t> contains the Verilog used on the USRPs</a:t>
            </a:r>
          </a:p>
          <a:p>
            <a:pPr marL="457200" lvl="1" indent="0">
              <a:buNone/>
            </a:pPr>
            <a:r>
              <a:rPr lang="en-US" dirty="0">
                <a:hlinkClick r:id="rId2"/>
              </a:rPr>
              <a:t>https://github.com/EttusResearch/uhd/tree/master/fpga/usrp3/top/x300</a:t>
            </a:r>
            <a:endParaRPr lang="en-US" dirty="0"/>
          </a:p>
          <a:p>
            <a:r>
              <a:rPr lang="en-US" dirty="0"/>
              <a:t>All the action happens in x300_core</a:t>
            </a:r>
          </a:p>
          <a:p>
            <a:pPr lvl="1"/>
            <a:r>
              <a:rPr lang="en-US" dirty="0"/>
              <a:t>handles communication with PC, </a:t>
            </a:r>
            <a:r>
              <a:rPr lang="en-US" dirty="0" err="1"/>
              <a:t>gpio</a:t>
            </a:r>
            <a:r>
              <a:rPr lang="en-US" dirty="0"/>
              <a:t>, </a:t>
            </a:r>
            <a:r>
              <a:rPr lang="en-US" dirty="0" err="1"/>
              <a:t>adc</a:t>
            </a:r>
            <a:r>
              <a:rPr lang="en-US" dirty="0"/>
              <a:t>/</a:t>
            </a:r>
            <a:r>
              <a:rPr lang="en-US" dirty="0" err="1"/>
              <a:t>dac</a:t>
            </a:r>
            <a:r>
              <a:rPr lang="en-US" dirty="0"/>
              <a:t>, nonideality correction</a:t>
            </a:r>
          </a:p>
          <a:p>
            <a:r>
              <a:rPr lang="en-US" dirty="0"/>
              <a:t>We will insert our module here</a:t>
            </a:r>
          </a:p>
          <a:p>
            <a:r>
              <a:rPr lang="en-US" dirty="0"/>
              <a:t>However, there are nuances! There are many signals that we need to go through</a:t>
            </a:r>
          </a:p>
        </p:txBody>
      </p:sp>
    </p:spTree>
    <p:extLst>
      <p:ext uri="{BB962C8B-B14F-4D97-AF65-F5344CB8AC3E}">
        <p14:creationId xmlns:p14="http://schemas.microsoft.com/office/powerpoint/2010/main" val="226377346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17B3C-340A-92F7-5652-58CF78DE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Cherry-picking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607F8-C357-48D0-A769-A1B76C353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for fixing repos (don’t do this for setup)</a:t>
            </a:r>
          </a:p>
          <a:p>
            <a:r>
              <a:rPr lang="en-US" dirty="0"/>
              <a:t>What if we developed on a stable release branch?</a:t>
            </a:r>
          </a:p>
          <a:p>
            <a:pPr lvl="1"/>
            <a:r>
              <a:rPr lang="en-US" dirty="0"/>
              <a:t>We want to selectively apply all of our changes from our current branch to the upstream/master branch</a:t>
            </a:r>
          </a:p>
          <a:p>
            <a:pPr lvl="1"/>
            <a:r>
              <a:rPr lang="en-US" dirty="0"/>
              <a:t>go to your history and find the range of all commits you want</a:t>
            </a:r>
          </a:p>
          <a:p>
            <a:pPr lvl="1"/>
            <a:r>
              <a:rPr lang="en-US" dirty="0"/>
              <a:t>git cherry-pick &lt;oldest commit&gt;^..&lt;latest commit&gt;</a:t>
            </a:r>
          </a:p>
          <a:p>
            <a:r>
              <a:rPr lang="en-US" dirty="0"/>
              <a:t>This is a one-off trick! Not a permanent solution! Do this to transition to the </a:t>
            </a:r>
            <a:r>
              <a:rPr lang="en-US" dirty="0" err="1"/>
              <a:t>uhd</a:t>
            </a:r>
            <a:r>
              <a:rPr lang="en-US" dirty="0"/>
              <a:t> master branch.</a:t>
            </a:r>
          </a:p>
        </p:txBody>
      </p:sp>
    </p:spTree>
    <p:extLst>
      <p:ext uri="{BB962C8B-B14F-4D97-AF65-F5344CB8AC3E}">
        <p14:creationId xmlns:p14="http://schemas.microsoft.com/office/powerpoint/2010/main" val="3006695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212E4-D71F-F26A-2E65-97BE946E8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EF7017-0B55-CBEA-7008-F351EE387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.</a:t>
            </a:r>
            <a:r>
              <a:rPr lang="en-US" dirty="0" err="1"/>
              <a:t>sh</a:t>
            </a:r>
            <a:r>
              <a:rPr lang="en-US" dirty="0"/>
              <a:t> files, run using . &lt;filename&gt;.</a:t>
            </a:r>
            <a:r>
              <a:rPr lang="en-US" dirty="0" err="1"/>
              <a:t>sh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for </a:t>
            </a:r>
            <a:r>
              <a:rPr lang="en-US" dirty="0" err="1"/>
              <a:t>c++</a:t>
            </a:r>
            <a:r>
              <a:rPr lang="en-US" dirty="0"/>
              <a:t> files, run using </a:t>
            </a:r>
            <a:r>
              <a:rPr lang="en-US"/>
              <a:t>./&lt;filename&gt;</a:t>
            </a:r>
          </a:p>
        </p:txBody>
      </p:sp>
    </p:spTree>
    <p:extLst>
      <p:ext uri="{BB962C8B-B14F-4D97-AF65-F5344CB8AC3E}">
        <p14:creationId xmlns:p14="http://schemas.microsoft.com/office/powerpoint/2010/main" val="23348262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8DE1B-4987-7195-DB8D-8907B5DE7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HDL </a:t>
            </a:r>
            <a:r>
              <a:rPr lang="en-US" dirty="0" err="1"/>
              <a:t>Makefile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57B83D-44A1-EDAA-4C84-DCA7435F80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To compile the HDL, the </a:t>
            </a:r>
            <a:r>
              <a:rPr lang="en-US" dirty="0" err="1"/>
              <a:t>makefile</a:t>
            </a:r>
            <a:r>
              <a:rPr lang="en-US" dirty="0"/>
              <a:t> needs to know which files are needed. This is done by reading </a:t>
            </a:r>
            <a:r>
              <a:rPr lang="en-US" dirty="0" err="1"/>
              <a:t>makefile.srcs</a:t>
            </a:r>
            <a:r>
              <a:rPr lang="en-US" dirty="0"/>
              <a:t> files, which contain a list of all </a:t>
            </a:r>
            <a:r>
              <a:rPr lang="en-US" dirty="0" err="1"/>
              <a:t>hdl</a:t>
            </a:r>
            <a:r>
              <a:rPr lang="en-US" dirty="0"/>
              <a:t> code we use.</a:t>
            </a:r>
          </a:p>
          <a:p>
            <a:pPr marL="0" indent="0">
              <a:buNone/>
            </a:pPr>
            <a:r>
              <a:rPr lang="en-US" dirty="0"/>
              <a:t>In each module folder, add a </a:t>
            </a:r>
            <a:r>
              <a:rPr lang="en-US" dirty="0" err="1"/>
              <a:t>Makefile.srcs</a:t>
            </a:r>
            <a:r>
              <a:rPr lang="en-US" dirty="0"/>
              <a:t> file that </a:t>
            </a:r>
          </a:p>
          <a:p>
            <a:pPr lvl="1"/>
            <a:r>
              <a:rPr lang="en-US" dirty="0"/>
              <a:t>Adds all utility files</a:t>
            </a:r>
          </a:p>
          <a:p>
            <a:pPr lvl="1"/>
            <a:r>
              <a:rPr lang="en-US" dirty="0"/>
              <a:t>Adds the full paths to each of the </a:t>
            </a:r>
            <a:r>
              <a:rPr lang="en-US" dirty="0" err="1"/>
              <a:t>hdl</a:t>
            </a:r>
            <a:r>
              <a:rPr lang="en-US" dirty="0"/>
              <a:t> files</a:t>
            </a:r>
          </a:p>
          <a:p>
            <a:pPr marL="0" indent="0">
              <a:buNone/>
            </a:pPr>
            <a:r>
              <a:rPr lang="en-US" dirty="0"/>
              <a:t>In the top module folder </a:t>
            </a:r>
            <a:r>
              <a:rPr lang="en-US" dirty="0" err="1"/>
              <a:t>Makefile</a:t>
            </a:r>
            <a:r>
              <a:rPr lang="en-US" dirty="0"/>
              <a:t>, add all the files that are being used. To add this </a:t>
            </a:r>
            <a:r>
              <a:rPr lang="en-US" dirty="0" err="1"/>
              <a:t>Makefile</a:t>
            </a:r>
            <a:r>
              <a:rPr lang="en-US" dirty="0"/>
              <a:t>, include the path to the </a:t>
            </a:r>
            <a:r>
              <a:rPr lang="en-US" dirty="0" err="1"/>
              <a:t>Makefile.srcs</a:t>
            </a:r>
            <a:r>
              <a:rPr lang="en-US" dirty="0"/>
              <a:t> and append the path string to DESIGN_SRCS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https://github.com/Wangstonn/ww_uhd/blob/osla-bpsk-4.5/fpga/usrp3/top/x300/Makefile.x300.inc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4990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8B0CE-F18C-2F17-AF69-3E236D3AE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Compilation/</a:t>
            </a:r>
            <a:r>
              <a:rPr lang="en-US" dirty="0" err="1"/>
              <a:t>bitfile</a:t>
            </a:r>
            <a:r>
              <a:rPr lang="en-US" dirty="0"/>
              <a:t>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8A2A7-97C4-1EE3-BD3F-1C1DEA1EC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module load python/3.8.5</a:t>
            </a:r>
          </a:p>
          <a:p>
            <a:pPr marL="0" indent="0">
              <a:buNone/>
            </a:pPr>
            <a:r>
              <a:rPr lang="en-US" dirty="0"/>
              <a:t>. ./setupenv.sh --</a:t>
            </a:r>
            <a:r>
              <a:rPr lang="en-US" dirty="0" err="1"/>
              <a:t>vivado</a:t>
            </a:r>
            <a:r>
              <a:rPr lang="en-US" dirty="0"/>
              <a:t>-path /</a:t>
            </a:r>
            <a:r>
              <a:rPr lang="en-US" dirty="0" err="1"/>
              <a:t>usr</a:t>
            </a:r>
            <a:r>
              <a:rPr lang="en-US" dirty="0"/>
              <a:t>/</a:t>
            </a:r>
            <a:r>
              <a:rPr lang="en-US" dirty="0" err="1"/>
              <a:t>caen</a:t>
            </a:r>
            <a:r>
              <a:rPr lang="en-US" dirty="0"/>
              <a:t>/</a:t>
            </a:r>
            <a:r>
              <a:rPr lang="en-US" dirty="0" err="1"/>
              <a:t>xilinx</a:t>
            </a:r>
            <a:r>
              <a:rPr lang="en-US" dirty="0"/>
              <a:t>/2021.1/</a:t>
            </a:r>
            <a:r>
              <a:rPr lang="en-US" dirty="0" err="1"/>
              <a:t>Vivado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make X310_HG</a:t>
            </a:r>
          </a:p>
          <a:p>
            <a:pPr marL="0" indent="0">
              <a:buNone/>
            </a:pPr>
            <a:r>
              <a:rPr lang="en-US" dirty="0" err="1"/>
              <a:t>vivado</a:t>
            </a:r>
            <a:r>
              <a:rPr lang="en-US" dirty="0"/>
              <a:t> path will change based on </a:t>
            </a:r>
            <a:r>
              <a:rPr lang="en-US" dirty="0" err="1"/>
              <a:t>uhd</a:t>
            </a:r>
            <a:r>
              <a:rPr lang="en-US" dirty="0"/>
              <a:t> version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https://github.com/Wangstonn/ww_uhd/blob/osla-bpsk-4.5/fpga/usrp3/top/x300/vlsi_make.sh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Move the files from the untracked build folder and </a:t>
            </a:r>
            <a:r>
              <a:rPr lang="en-US" dirty="0" err="1"/>
              <a:t>commit+push</a:t>
            </a:r>
            <a:r>
              <a:rPr lang="en-US" dirty="0"/>
              <a:t> to git</a:t>
            </a:r>
          </a:p>
          <a:p>
            <a:pPr marL="0" indent="0">
              <a:buNone/>
            </a:pPr>
            <a:r>
              <a:rPr lang="en-US" dirty="0"/>
              <a:t>mv build/usrp_x310_fpga_HG.bit ./usrp_x310_fpga_HG.bit </a:t>
            </a:r>
          </a:p>
          <a:p>
            <a:pPr marL="0" indent="0">
              <a:buNone/>
            </a:pPr>
            <a:r>
              <a:rPr lang="en-US" dirty="0"/>
              <a:t>Pull on the lab computer and run</a:t>
            </a:r>
          </a:p>
          <a:p>
            <a:pPr marL="0" indent="0">
              <a:buNone/>
            </a:pPr>
            <a:r>
              <a:rPr lang="en-US" dirty="0" err="1"/>
              <a:t>uhd_image_loader</a:t>
            </a:r>
            <a:r>
              <a:rPr lang="en-US" dirty="0"/>
              <a:t> --</a:t>
            </a:r>
            <a:r>
              <a:rPr lang="en-US" dirty="0" err="1"/>
              <a:t>args</a:t>
            </a:r>
            <a:r>
              <a:rPr lang="en-US" dirty="0"/>
              <a:t> type=x300 </a:t>
            </a:r>
            <a:r>
              <a:rPr lang="en-US" dirty="0" err="1"/>
              <a:t>addr</a:t>
            </a:r>
            <a:r>
              <a:rPr lang="en-US" dirty="0"/>
              <a:t>=192.168.110.2 --</a:t>
            </a:r>
            <a:r>
              <a:rPr lang="en-US" dirty="0" err="1"/>
              <a:t>fpga</a:t>
            </a:r>
            <a:r>
              <a:rPr lang="en-US" dirty="0"/>
              <a:t>-path usrp_x310_fpga_HG.bit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IP addresses and reservation are found here: </a:t>
            </a:r>
            <a:r>
              <a:rPr lang="en-US" dirty="0">
                <a:hlinkClick r:id="rId4"/>
              </a:rPr>
              <a:t>https://docs.google.com/spreadsheets/d/1B6xLjOiw-5AcmWQ2GNcWTHVfxSufC8P4PqGfJjSeS0I/edit#gid=0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499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3983-0D05-ABAD-049E-B27646B1D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Structuring a C++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B0120-289B-4BFA-3AE5-42E329E18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Your code should be organized into folders that contain functions, their header, and a unit test. </a:t>
            </a:r>
          </a:p>
          <a:p>
            <a:pPr marL="0" indent="0">
              <a:buNone/>
            </a:pPr>
            <a:r>
              <a:rPr lang="en-US" dirty="0" err="1"/>
              <a:t>project_folder</a:t>
            </a:r>
            <a:r>
              <a:rPr lang="en-US" dirty="0"/>
              <a:t>/</a:t>
            </a:r>
          </a:p>
          <a:p>
            <a:pPr marL="0" indent="0">
              <a:buNone/>
            </a:pPr>
            <a:r>
              <a:rPr lang="en-US" dirty="0"/>
              <a:t>│</a:t>
            </a:r>
          </a:p>
          <a:p>
            <a:pPr marL="0" indent="0">
              <a:buNone/>
            </a:pPr>
            <a:r>
              <a:rPr lang="en-US" dirty="0"/>
              <a:t>├── main.cpp         // Contains the main program logic</a:t>
            </a:r>
          </a:p>
          <a:p>
            <a:pPr marL="0" indent="0">
              <a:buNone/>
            </a:pPr>
            <a:r>
              <a:rPr lang="en-US" dirty="0"/>
              <a:t>└── </a:t>
            </a:r>
            <a:r>
              <a:rPr lang="en-US" dirty="0" err="1"/>
              <a:t>src</a:t>
            </a:r>
            <a:r>
              <a:rPr lang="en-US" dirty="0"/>
              <a:t>/             // Folder containing source files</a:t>
            </a:r>
          </a:p>
          <a:p>
            <a:pPr marL="0" indent="0">
              <a:buNone/>
            </a:pPr>
            <a:r>
              <a:rPr lang="en-US" dirty="0"/>
              <a:t>    ├── functions.cpp    // Implementation of functions</a:t>
            </a:r>
          </a:p>
          <a:p>
            <a:pPr marL="0" indent="0">
              <a:buNone/>
            </a:pPr>
            <a:r>
              <a:rPr lang="en-US" dirty="0"/>
              <a:t>    ├── </a:t>
            </a:r>
            <a:r>
              <a:rPr lang="en-US" dirty="0" err="1"/>
              <a:t>functions.h</a:t>
            </a:r>
            <a:r>
              <a:rPr lang="en-US" dirty="0"/>
              <a:t>      // Header file declaring functions</a:t>
            </a:r>
          </a:p>
          <a:p>
            <a:pPr marL="0" indent="0">
              <a:buNone/>
            </a:pPr>
            <a:r>
              <a:rPr lang="en-US" dirty="0"/>
              <a:t>    └── tests.cpp        // File for testing functions</a:t>
            </a:r>
          </a:p>
          <a:p>
            <a:pPr marL="0" indent="0">
              <a:buNone/>
            </a:pPr>
            <a:r>
              <a:rPr lang="en-US" dirty="0"/>
              <a:t>These functions can be further grouped into libraries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5904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FD899-8501-9B13-2958-0BD800CB1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Header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C026B-963B-3C6A-6FB4-C05F96C30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//Include guards to prevent repeated definition</a:t>
            </a:r>
          </a:p>
          <a:p>
            <a:pPr marL="0" indent="0">
              <a:buNone/>
            </a:pPr>
            <a:r>
              <a:rPr lang="en-US" dirty="0"/>
              <a:t>#ifndef CROSS_CORRELATION_H</a:t>
            </a:r>
          </a:p>
          <a:p>
            <a:pPr marL="0" indent="0">
              <a:buNone/>
            </a:pPr>
            <a:r>
              <a:rPr lang="en-US" dirty="0"/>
              <a:t>#define CROSS_CORRELATION_H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//libraries needed to be included in function </a:t>
            </a:r>
            <a:r>
              <a:rPr lang="en-US" dirty="0" err="1"/>
              <a:t>c++</a:t>
            </a:r>
            <a:r>
              <a:rPr lang="en-US" dirty="0"/>
              <a:t> file</a:t>
            </a:r>
          </a:p>
          <a:p>
            <a:pPr marL="0" indent="0">
              <a:buNone/>
            </a:pPr>
            <a:r>
              <a:rPr lang="en-US" dirty="0"/>
              <a:t>#include &lt;vector&gt;</a:t>
            </a:r>
          </a:p>
          <a:p>
            <a:pPr marL="0" indent="0">
              <a:buNone/>
            </a:pPr>
            <a:r>
              <a:rPr lang="en-US" dirty="0"/>
              <a:t>#include &lt;complex&gt;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//function prototypes</a:t>
            </a:r>
          </a:p>
          <a:p>
            <a:pPr marL="0" indent="0">
              <a:buNone/>
            </a:pPr>
            <a:r>
              <a:rPr lang="en-US" dirty="0"/>
              <a:t>std::tuple&lt;std::vector&lt;std::complex&lt;double&gt;&gt;, std::vector&lt;int&gt;&gt; </a:t>
            </a:r>
            <a:r>
              <a:rPr lang="en-US" dirty="0" err="1"/>
              <a:t>crossCorrelationComplex</a:t>
            </a:r>
            <a:r>
              <a:rPr lang="en-US" dirty="0"/>
              <a:t>(const std::vector&lt;std::complex&lt;double&gt;&gt;&amp; x, const std::vector&lt;std::complex&lt;double&gt;&gt;&amp; y);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#endif  // CROSS_CORRELATION_H</a:t>
            </a:r>
          </a:p>
        </p:txBody>
      </p:sp>
    </p:spTree>
    <p:extLst>
      <p:ext uri="{BB962C8B-B14F-4D97-AF65-F5344CB8AC3E}">
        <p14:creationId xmlns:p14="http://schemas.microsoft.com/office/powerpoint/2010/main" val="12045469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3C2F9-C265-0404-B5CE-F184A601A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8BE17D-7372-543D-6E83-6ED5765E9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Up to now, you probably used an IDE to compile </a:t>
            </a:r>
            <a:r>
              <a:rPr lang="en-US" dirty="0" err="1"/>
              <a:t>c++</a:t>
            </a:r>
            <a:r>
              <a:rPr lang="en-US" dirty="0"/>
              <a:t> files. When compiling on a </a:t>
            </a:r>
            <a:r>
              <a:rPr lang="en-US" dirty="0" err="1"/>
              <a:t>linux</a:t>
            </a:r>
            <a:r>
              <a:rPr lang="en-US" dirty="0"/>
              <a:t> server, the command used is</a:t>
            </a:r>
          </a:p>
          <a:p>
            <a:pPr marL="0" indent="0">
              <a:buNone/>
            </a:pPr>
            <a:r>
              <a:rPr lang="en-US" dirty="0"/>
              <a:t>g++ -o test xcorr_slow.test.cpp</a:t>
            </a:r>
          </a:p>
          <a:p>
            <a:pPr marL="0" indent="0">
              <a:buNone/>
            </a:pPr>
            <a:r>
              <a:rPr lang="en-US" dirty="0"/>
              <a:t>What happens is you have a function in a separate file? Then </a:t>
            </a:r>
            <a:r>
              <a:rPr lang="en-US" dirty="0" err="1"/>
              <a:t>c++</a:t>
            </a:r>
            <a:r>
              <a:rPr lang="en-US" dirty="0"/>
              <a:t> must compile both and link them</a:t>
            </a:r>
          </a:p>
          <a:p>
            <a:pPr marL="0" indent="0">
              <a:buNone/>
            </a:pPr>
            <a:r>
              <a:rPr lang="en-US" dirty="0"/>
              <a:t> g++ -o test xcorr_slow.test.cpp xcorr_slow.cpp</a:t>
            </a:r>
          </a:p>
          <a:p>
            <a:pPr marL="0" indent="0">
              <a:buNone/>
            </a:pPr>
            <a:r>
              <a:rPr lang="en-US" dirty="0"/>
              <a:t>With many function and many files. This can quickly become too complex. </a:t>
            </a:r>
          </a:p>
          <a:p>
            <a:pPr marL="0" indent="0">
              <a:buNone/>
            </a:pPr>
            <a:r>
              <a:rPr lang="en-US" dirty="0" err="1"/>
              <a:t>CMake</a:t>
            </a:r>
            <a:r>
              <a:rPr lang="en-US" dirty="0"/>
              <a:t> is a build tool that uses CMakeLists.txt to record dependencies and allow us to build larger </a:t>
            </a:r>
            <a:r>
              <a:rPr lang="en-US" dirty="0" err="1"/>
              <a:t>c++</a:t>
            </a:r>
            <a:r>
              <a:rPr lang="en-US" dirty="0"/>
              <a:t> executables</a:t>
            </a:r>
          </a:p>
        </p:txBody>
      </p:sp>
    </p:spTree>
    <p:extLst>
      <p:ext uri="{BB962C8B-B14F-4D97-AF65-F5344CB8AC3E}">
        <p14:creationId xmlns:p14="http://schemas.microsoft.com/office/powerpoint/2010/main" val="398168068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F7896-13A1-5572-48D4-DBB1F349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CMakeLists.txt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E17E9-B3BA-A5E9-8723-20E42EAB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dirty="0"/>
              <a:t>Each folder will have a CMakeLists.txt</a:t>
            </a:r>
          </a:p>
          <a:p>
            <a:pPr marL="0" indent="0">
              <a:buNone/>
            </a:pPr>
            <a:r>
              <a:rPr lang="en-US" dirty="0"/>
              <a:t>root</a:t>
            </a:r>
          </a:p>
          <a:p>
            <a:pPr marL="0" indent="0">
              <a:buNone/>
            </a:pPr>
            <a:r>
              <a:rPr lang="en-US" dirty="0"/>
              <a:t>|- </a:t>
            </a:r>
            <a:r>
              <a:rPr lang="en-US" dirty="0" err="1"/>
              <a:t>MainProject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|- main.cpp</a:t>
            </a:r>
          </a:p>
          <a:p>
            <a:pPr marL="0" indent="0">
              <a:buNone/>
            </a:pPr>
            <a:r>
              <a:rPr lang="en-US" dirty="0"/>
              <a:t>|  |- CMakeLists.txt</a:t>
            </a:r>
          </a:p>
          <a:p>
            <a:pPr marL="0" indent="0">
              <a:buNone/>
            </a:pPr>
            <a:r>
              <a:rPr lang="en-US" dirty="0"/>
              <a:t>|  |- </a:t>
            </a:r>
            <a:r>
              <a:rPr lang="en-US" dirty="0" err="1"/>
              <a:t>src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|  |- </a:t>
            </a:r>
            <a:r>
              <a:rPr lang="en-US" dirty="0" err="1"/>
              <a:t>xcorr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|  |  |- </a:t>
            </a:r>
            <a:r>
              <a:rPr lang="en-US" dirty="0" err="1"/>
              <a:t>xcorr.h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|  |  |- xcorr.cpp</a:t>
            </a:r>
          </a:p>
          <a:p>
            <a:pPr marL="0" indent="0">
              <a:buNone/>
            </a:pPr>
            <a:r>
              <a:rPr lang="en-US" dirty="0"/>
              <a:t>|  |  |  |- test.cpp </a:t>
            </a:r>
          </a:p>
          <a:p>
            <a:pPr marL="0" indent="0">
              <a:buNone/>
            </a:pPr>
            <a:r>
              <a:rPr lang="en-US" dirty="0"/>
              <a:t>|  |  |  '- CMakeLists.txt</a:t>
            </a:r>
          </a:p>
          <a:p>
            <a:pPr marL="0" indent="0">
              <a:buNone/>
            </a:pPr>
            <a:r>
              <a:rPr lang="en-US" dirty="0"/>
              <a:t>|  |  '- </a:t>
            </a:r>
            <a:r>
              <a:rPr lang="en-US" dirty="0" err="1"/>
              <a:t>fft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|     |- </a:t>
            </a:r>
            <a:r>
              <a:rPr lang="en-US" dirty="0" err="1"/>
              <a:t>fft.h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|  |     |- fft.cpp</a:t>
            </a:r>
          </a:p>
          <a:p>
            <a:pPr marL="0" indent="0">
              <a:buNone/>
            </a:pPr>
            <a:r>
              <a:rPr lang="en-US" dirty="0"/>
              <a:t>|  |     |- test.cpp </a:t>
            </a:r>
          </a:p>
          <a:p>
            <a:pPr marL="0" indent="0">
              <a:buNone/>
            </a:pPr>
            <a:r>
              <a:rPr lang="en-US" dirty="0"/>
              <a:t>|  |     '- CMakeLists.txt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0593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C41FD-22B3-C540-3B6E-1C150A062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CMake</a:t>
            </a:r>
            <a:r>
              <a:rPr lang="en-US" dirty="0"/>
              <a:t> function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12B4D-8B40-869A-1D64-9746517D07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project(): determines the name of the project</a:t>
            </a:r>
          </a:p>
          <a:p>
            <a:pPr marL="0" indent="0">
              <a:buNone/>
            </a:pPr>
            <a:r>
              <a:rPr lang="en-US" dirty="0" err="1"/>
              <a:t>add_subdirectory</a:t>
            </a:r>
            <a:r>
              <a:rPr lang="en-US" dirty="0">
                <a:sym typeface="Wingdings" panose="05000000000000000000" pitchFamily="2" charset="2"/>
              </a:rPr>
              <a:t>(): adds subdirectories containing other </a:t>
            </a:r>
            <a:r>
              <a:rPr lang="en-US" dirty="0" err="1">
                <a:sym typeface="Wingdings" panose="05000000000000000000" pitchFamily="2" charset="2"/>
              </a:rPr>
              <a:t>cmakelists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 err="1"/>
              <a:t>add_executable</a:t>
            </a:r>
            <a:r>
              <a:rPr lang="en-US" dirty="0"/>
              <a:t>(): creates the executable from the </a:t>
            </a:r>
            <a:r>
              <a:rPr lang="en-US" dirty="0" err="1"/>
              <a:t>cpp</a:t>
            </a:r>
            <a:r>
              <a:rPr lang="en-US" dirty="0"/>
              <a:t> file</a:t>
            </a:r>
          </a:p>
          <a:p>
            <a:pPr marL="0" indent="0">
              <a:buNone/>
            </a:pPr>
            <a:r>
              <a:rPr lang="en-US" dirty="0" err="1"/>
              <a:t>target_link_libraries</a:t>
            </a:r>
            <a:r>
              <a:rPr lang="en-US" dirty="0"/>
              <a:t>(</a:t>
            </a:r>
            <a:r>
              <a:rPr lang="en-US" dirty="0" err="1"/>
              <a:t>MainExecutable</a:t>
            </a:r>
            <a:r>
              <a:rPr lang="en-US" dirty="0"/>
              <a:t> </a:t>
            </a:r>
            <a:r>
              <a:rPr lang="en-US" dirty="0" err="1"/>
              <a:t>XCorr</a:t>
            </a:r>
            <a:r>
              <a:rPr lang="en-US" dirty="0"/>
              <a:t> FFT): links libraries (defined in subdirectory cmakelists.txt) to the main executable</a:t>
            </a:r>
          </a:p>
          <a:p>
            <a:pPr marL="0" indent="0">
              <a:buNone/>
            </a:pPr>
            <a:r>
              <a:rPr lang="en-US" dirty="0" err="1"/>
              <a:t>add_library</a:t>
            </a:r>
            <a:r>
              <a:rPr lang="en-US" dirty="0"/>
              <a:t>(</a:t>
            </a:r>
            <a:r>
              <a:rPr lang="en-US" dirty="0" err="1"/>
              <a:t>XCorr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    xcorr.cpp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xcorr.h</a:t>
            </a:r>
            <a:r>
              <a:rPr lang="en-US" dirty="0"/>
              <a:t> #unit test file missing since we don’t want to link it to </a:t>
            </a:r>
            <a:r>
              <a:rPr lang="en-US" dirty="0" err="1"/>
              <a:t>mainexec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) # Create a library from sources in subdirectory folder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223685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D70F5-6B02-A53D-7042-57BE7C3B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CMake</a:t>
            </a:r>
            <a:r>
              <a:rPr lang="en-US" dirty="0"/>
              <a:t> config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19A56-7EC2-31C3-83BE-F7935A9B5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cd </a:t>
            </a:r>
            <a:r>
              <a:rPr lang="en-US" dirty="0" err="1"/>
              <a:t>uhd</a:t>
            </a:r>
            <a:r>
              <a:rPr lang="en-US" dirty="0"/>
              <a:t>/host/&lt;folder for </a:t>
            </a:r>
            <a:r>
              <a:rPr lang="en-US" dirty="0" err="1"/>
              <a:t>c++</a:t>
            </a:r>
            <a:r>
              <a:rPr lang="en-US" dirty="0"/>
              <a:t> code&gt;</a:t>
            </a:r>
          </a:p>
          <a:p>
            <a:pPr marL="0" indent="0">
              <a:buNone/>
            </a:pPr>
            <a:r>
              <a:rPr lang="en-US" dirty="0" err="1"/>
              <a:t>mkdir</a:t>
            </a:r>
            <a:r>
              <a:rPr lang="en-US" dirty="0"/>
              <a:t> build</a:t>
            </a:r>
          </a:p>
          <a:p>
            <a:pPr marL="0" indent="0">
              <a:buNone/>
            </a:pPr>
            <a:r>
              <a:rPr lang="en-US" dirty="0"/>
              <a:t>cd build</a:t>
            </a:r>
          </a:p>
          <a:p>
            <a:pPr marL="0" indent="0">
              <a:buNone/>
            </a:pPr>
            <a:r>
              <a:rPr lang="en-US" dirty="0" err="1"/>
              <a:t>cmake</a:t>
            </a:r>
            <a:r>
              <a:rPr lang="en-US" dirty="0"/>
              <a:t> -DCMAKE_INSTALL_PREFIX=$HOME/.local/lib/uhd-4.5 ../</a:t>
            </a:r>
          </a:p>
          <a:p>
            <a:pPr marL="0" indent="0">
              <a:buNone/>
            </a:pPr>
            <a:r>
              <a:rPr lang="en-US" dirty="0"/>
              <a:t>make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Inside build will be the executable (execute using ./</a:t>
            </a:r>
            <a:r>
              <a:rPr lang="en-US" dirty="0" err="1"/>
              <a:t>build_exec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Note that your executable will be in project/build. This is important when accessing files using relative path, since </a:t>
            </a:r>
            <a:r>
              <a:rPr lang="en-US" dirty="0" err="1"/>
              <a:t>itll</a:t>
            </a:r>
            <a:r>
              <a:rPr lang="en-US" dirty="0"/>
              <a:t> be different than the location of the </a:t>
            </a:r>
            <a:r>
              <a:rPr lang="en-US" dirty="0" err="1"/>
              <a:t>cpp</a:t>
            </a:r>
            <a:r>
              <a:rPr lang="en-US" dirty="0"/>
              <a:t> file</a:t>
            </a:r>
          </a:p>
          <a:p>
            <a:pPr marL="0" indent="0">
              <a:buNone/>
            </a:pPr>
            <a:r>
              <a:rPr lang="en-US" dirty="0"/>
              <a:t> std::</a:t>
            </a:r>
            <a:r>
              <a:rPr lang="en-US" dirty="0" err="1"/>
              <a:t>ifstream</a:t>
            </a:r>
            <a:r>
              <a:rPr lang="en-US" dirty="0"/>
              <a:t> </a:t>
            </a:r>
            <a:r>
              <a:rPr lang="en-US" dirty="0" err="1"/>
              <a:t>if_file</a:t>
            </a:r>
            <a:r>
              <a:rPr lang="en-US" dirty="0"/>
              <a:t>("../../../</a:t>
            </a:r>
            <a:r>
              <a:rPr lang="en-US" dirty="0" err="1"/>
              <a:t>matlab</a:t>
            </a:r>
            <a:r>
              <a:rPr lang="en-US" dirty="0"/>
              <a:t>/</a:t>
            </a:r>
            <a:r>
              <a:rPr lang="en-US" dirty="0" err="1"/>
              <a:t>mlsr</a:t>
            </a:r>
            <a:r>
              <a:rPr lang="en-US" dirty="0"/>
              <a:t>/</a:t>
            </a:r>
            <a:r>
              <a:rPr lang="en-US" dirty="0" err="1"/>
              <a:t>preamble.mem</a:t>
            </a:r>
            <a:r>
              <a:rPr lang="en-US" dirty="0"/>
              <a:t>");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199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A129F-F3CA-63BC-A582-27486C38D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USRP CPP code build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057D6-5FEC-4E1F-6F35-6874E81A8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</a:t>
            </a:r>
            <a:r>
              <a:rPr lang="en-US" dirty="0" err="1"/>
              <a:t>VScode</a:t>
            </a:r>
            <a:r>
              <a:rPr lang="en-US" dirty="0"/>
              <a:t> to ssh into aa machine</a:t>
            </a:r>
          </a:p>
          <a:p>
            <a:pPr marL="0" indent="0">
              <a:buNone/>
            </a:pPr>
            <a:r>
              <a:rPr lang="en-US" dirty="0"/>
              <a:t>Make a folder in host, copying </a:t>
            </a:r>
            <a:r>
              <a:rPr lang="en-US" dirty="0">
                <a:hlinkClick r:id="rId2"/>
              </a:rPr>
              <a:t>https://github.com/EttusResearch/uhd/tree/master/host/examples/init_usrp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modify the CMakelists.txt to run your </a:t>
            </a:r>
            <a:r>
              <a:rPr lang="en-US" dirty="0" err="1"/>
              <a:t>c++</a:t>
            </a:r>
            <a:r>
              <a:rPr lang="en-US" dirty="0"/>
              <a:t> file instead</a:t>
            </a:r>
          </a:p>
          <a:p>
            <a:pPr marL="0" indent="0">
              <a:buNone/>
            </a:pPr>
            <a:r>
              <a:rPr lang="en-US" dirty="0"/>
              <a:t>Configure </a:t>
            </a:r>
            <a:r>
              <a:rPr lang="en-US" dirty="0" err="1"/>
              <a:t>cmake</a:t>
            </a:r>
            <a:r>
              <a:rPr lang="en-US" dirty="0"/>
              <a:t> (</a:t>
            </a:r>
            <a:r>
              <a:rPr lang="en-US" dirty="0" err="1"/>
              <a:t>prev</a:t>
            </a:r>
            <a:r>
              <a:rPr lang="en-US" dirty="0"/>
              <a:t> slide)</a:t>
            </a:r>
          </a:p>
          <a:p>
            <a:pPr marL="0" indent="0">
              <a:buNone/>
            </a:pPr>
            <a:r>
              <a:rPr lang="en-US" dirty="0"/>
              <a:t>./</a:t>
            </a:r>
            <a:r>
              <a:rPr lang="en-US" dirty="0" err="1"/>
              <a:t>your_build</a:t>
            </a:r>
            <a:r>
              <a:rPr lang="en-US" dirty="0"/>
              <a:t> --</a:t>
            </a:r>
            <a:r>
              <a:rPr lang="en-US" dirty="0" err="1"/>
              <a:t>tx-args</a:t>
            </a:r>
            <a:r>
              <a:rPr lang="en-US" dirty="0"/>
              <a:t> "type=x300,addr=192.168.110.2" --</a:t>
            </a:r>
            <a:r>
              <a:rPr lang="en-US" dirty="0" err="1"/>
              <a:t>rx-args</a:t>
            </a:r>
            <a:r>
              <a:rPr lang="en-US" dirty="0"/>
              <a:t> "type=x300,addr=192.168.110.2" </a:t>
            </a:r>
          </a:p>
        </p:txBody>
      </p:sp>
    </p:spTree>
    <p:extLst>
      <p:ext uri="{BB962C8B-B14F-4D97-AF65-F5344CB8AC3E}">
        <p14:creationId xmlns:p14="http://schemas.microsoft.com/office/powerpoint/2010/main" val="2801954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5FE1-8DE8-4F07-8BDC-A0788C53E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Radio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51875-483F-4CAE-933F-17E5C3665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GNU radio is a tool that represents digital signal processing operations as “blocks”. Connecting blocks creates flowgraph which is executed in real time by the PC connected to the USRP</a:t>
            </a:r>
          </a:p>
          <a:p>
            <a:r>
              <a:rPr lang="en-US" dirty="0"/>
              <a:t>This relies on streaming raw samples from the USRP to the PC, so the sampling rate is limited.</a:t>
            </a:r>
          </a:p>
        </p:txBody>
      </p:sp>
    </p:spTree>
    <p:extLst>
      <p:ext uri="{BB962C8B-B14F-4D97-AF65-F5344CB8AC3E}">
        <p14:creationId xmlns:p14="http://schemas.microsoft.com/office/powerpoint/2010/main" val="40858498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90838-C938-415D-9907-A951351DC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8DB2E-A2B2-4E0E-B06B-6AA559173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create custom blocks, there are two options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Embedded Python Block</a:t>
            </a:r>
          </a:p>
          <a:p>
            <a:pPr lvl="2"/>
            <a:r>
              <a:rPr lang="en-US" dirty="0"/>
              <a:t>Code is stored as text data </a:t>
            </a:r>
            <a:r>
              <a:rPr lang="en-US" b="1" dirty="0"/>
              <a:t>inside</a:t>
            </a:r>
            <a:r>
              <a:rPr lang="en-US" dirty="0"/>
              <a:t> the flowgraph, </a:t>
            </a:r>
            <a:r>
              <a:rPr lang="en-US" u="sng" dirty="0"/>
              <a:t>making reuse difficult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Out-Of-Tree Custom Module</a:t>
            </a:r>
          </a:p>
          <a:p>
            <a:pPr lvl="2"/>
            <a:r>
              <a:rPr lang="en-US" dirty="0"/>
              <a:t>Allows you to create a custom library of GNU radio blocks that can be reused</a:t>
            </a:r>
          </a:p>
          <a:p>
            <a:pPr lvl="2"/>
            <a:r>
              <a:rPr lang="en-US" dirty="0"/>
              <a:t>Requires </a:t>
            </a:r>
            <a:r>
              <a:rPr lang="en-US" dirty="0" err="1"/>
              <a:t>sudo</a:t>
            </a:r>
            <a:r>
              <a:rPr lang="en-US" dirty="0"/>
              <a:t> access and installation </a:t>
            </a:r>
          </a:p>
          <a:p>
            <a:pPr lvl="2"/>
            <a:endParaRPr lang="en-US" dirty="0"/>
          </a:p>
          <a:p>
            <a:r>
              <a:rPr lang="en-US" dirty="0"/>
              <a:t>OOT Modules are preferred, but we don’t have </a:t>
            </a:r>
            <a:r>
              <a:rPr lang="en-US" dirty="0" err="1"/>
              <a:t>sudo</a:t>
            </a:r>
            <a:r>
              <a:rPr lang="en-US" dirty="0"/>
              <a:t> access to the lab computers.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7131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22D67-9CDB-464C-8A7B-64A24D02D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Python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7F8DE3-711D-455F-9841-460B2C971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Emedded</a:t>
            </a:r>
            <a:r>
              <a:rPr lang="en-US" dirty="0"/>
              <a:t> python blocks have code embedded as raw text in the </a:t>
            </a:r>
            <a:r>
              <a:rPr lang="en-US" dirty="0" err="1"/>
              <a:t>grc</a:t>
            </a:r>
            <a:r>
              <a:rPr lang="en-US" dirty="0"/>
              <a:t> file.</a:t>
            </a:r>
          </a:p>
          <a:p>
            <a:pPr lvl="1"/>
            <a:r>
              <a:rPr lang="en-US" dirty="0"/>
              <a:t>This makes it difficult to perform version control, maintain a library of usable code, and perform file </a:t>
            </a:r>
            <a:r>
              <a:rPr lang="en-US" dirty="0" err="1"/>
              <a:t>pperations</a:t>
            </a:r>
            <a:endParaRPr lang="en-US" dirty="0"/>
          </a:p>
          <a:p>
            <a:pPr lvl="1"/>
            <a:r>
              <a:rPr lang="en-US" dirty="0"/>
              <a:t>Moreover, the default editor is notepad</a:t>
            </a:r>
          </a:p>
          <a:p>
            <a:r>
              <a:rPr lang="en-US" dirty="0"/>
              <a:t>We can only fix the </a:t>
            </a:r>
            <a:r>
              <a:rPr lang="en-US" dirty="0">
                <a:hlinkClick r:id="rId2"/>
              </a:rPr>
              <a:t>notepad issue…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08947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FBC8C-7155-6884-00C1-4E81E87EE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/>
              <a:t>USRP Processing Delay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12DD0-E338-3F7D-7351-6ECC28968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289" y="868681"/>
            <a:ext cx="7529990" cy="546227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u="sng" dirty="0"/>
              <a:t>USRP Loopback Test</a:t>
            </a:r>
          </a:p>
          <a:p>
            <a:r>
              <a:rPr lang="en-US" dirty="0"/>
              <a:t>USRP Processing Delay must be accounted for in implementation for timing</a:t>
            </a:r>
          </a:p>
          <a:p>
            <a:r>
              <a:rPr lang="en-US" dirty="0"/>
              <a:t>Get USRP TX and RX processing delay</a:t>
            </a:r>
          </a:p>
          <a:p>
            <a:r>
              <a:rPr lang="en-US" dirty="0"/>
              <a:t>Processing Delay contains ADC, DAC, and Analog Frontend processing times. </a:t>
            </a:r>
          </a:p>
          <a:p>
            <a:r>
              <a:rPr lang="en-US" dirty="0"/>
              <a:t>An estimated constant delay was measured from USRP. Similar results from an additional USRPS with same wire.</a:t>
            </a:r>
          </a:p>
          <a:p>
            <a:r>
              <a:rPr lang="en-US" dirty="0"/>
              <a:t>Wired Cable used to connect. Wire Length is about 8 inches.</a:t>
            </a:r>
          </a:p>
          <a:p>
            <a:endParaRPr lang="en-US" dirty="0"/>
          </a:p>
        </p:txBody>
      </p:sp>
      <p:sp>
        <p:nvSpPr>
          <p:cNvPr id="5" name="Flowchart: Manual Operation 4">
            <a:extLst>
              <a:ext uri="{FF2B5EF4-FFF2-40B4-BE49-F238E27FC236}">
                <a16:creationId xmlns:a16="http://schemas.microsoft.com/office/drawing/2014/main" id="{E85D2BF5-4856-D614-C9FB-C1EF1475BA1F}"/>
              </a:ext>
            </a:extLst>
          </p:cNvPr>
          <p:cNvSpPr/>
          <p:nvPr/>
        </p:nvSpPr>
        <p:spPr>
          <a:xfrm>
            <a:off x="10199178" y="2296513"/>
            <a:ext cx="553626" cy="336113"/>
          </a:xfrm>
          <a:prstGeom prst="flowChartManualOperation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DF469A-68BF-B47F-19A3-FB6CB49263C1}"/>
              </a:ext>
            </a:extLst>
          </p:cNvPr>
          <p:cNvSpPr/>
          <p:nvPr/>
        </p:nvSpPr>
        <p:spPr>
          <a:xfrm>
            <a:off x="9158987" y="2632626"/>
            <a:ext cx="1593817" cy="57164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USRP</a:t>
            </a:r>
          </a:p>
        </p:txBody>
      </p:sp>
      <p:sp>
        <p:nvSpPr>
          <p:cNvPr id="7" name="Flowchart: Manual Operation 6">
            <a:extLst>
              <a:ext uri="{FF2B5EF4-FFF2-40B4-BE49-F238E27FC236}">
                <a16:creationId xmlns:a16="http://schemas.microsoft.com/office/drawing/2014/main" id="{8E7F71A0-BB57-9D4A-A1B5-F703F2BE6E03}"/>
              </a:ext>
            </a:extLst>
          </p:cNvPr>
          <p:cNvSpPr/>
          <p:nvPr/>
        </p:nvSpPr>
        <p:spPr>
          <a:xfrm>
            <a:off x="9239777" y="2280029"/>
            <a:ext cx="553626" cy="336113"/>
          </a:xfrm>
          <a:prstGeom prst="flowChartManualOperation">
            <a:avLst/>
          </a:prstGeom>
          <a:solidFill>
            <a:schemeClr val="accent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TX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E8403A7C-0E56-D59C-2E2A-357A9D5FE975}"/>
              </a:ext>
            </a:extLst>
          </p:cNvPr>
          <p:cNvCxnSpPr>
            <a:stCxn id="7" idx="0"/>
            <a:endCxn id="5" idx="0"/>
          </p:cNvCxnSpPr>
          <p:nvPr/>
        </p:nvCxnSpPr>
        <p:spPr>
          <a:xfrm rot="16200000" flipH="1">
            <a:off x="9988048" y="1808571"/>
            <a:ext cx="16484" cy="959401"/>
          </a:xfrm>
          <a:prstGeom prst="curvedConnector3">
            <a:avLst>
              <a:gd name="adj1" fmla="val -1386799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2104902"/>
      </p:ext>
    </p:extLst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FBC8C-7155-6884-00C1-4E81E87EE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/>
              <a:t>USRP Processing Delay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412DD0-E338-3F7D-7351-6ECC28968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8819" y="4934309"/>
            <a:ext cx="10894292" cy="1396644"/>
          </a:xfrm>
        </p:spPr>
        <p:txBody>
          <a:bodyPr>
            <a:normAutofit/>
          </a:bodyPr>
          <a:lstStyle/>
          <a:p>
            <a:r>
              <a:rPr lang="en-US" sz="2200" dirty="0"/>
              <a:t>Estimated Processing Delay = 119 samples at 200M = 0.595 us</a:t>
            </a:r>
          </a:p>
          <a:p>
            <a:r>
              <a:rPr lang="en-US" sz="2200" dirty="0"/>
              <a:t>Processing includes TX path, RX path and Wire length. </a:t>
            </a:r>
          </a:p>
          <a:p>
            <a:r>
              <a:rPr lang="en-US" sz="2200" dirty="0"/>
              <a:t>Wire Length = 8 inches </a:t>
            </a:r>
          </a:p>
          <a:p>
            <a:endParaRPr lang="en-US" sz="2200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1987B11-1033-C0AE-6B89-50F86C6576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04" y="781230"/>
            <a:ext cx="5334000" cy="4000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65437B3-C0CD-7008-09A6-142A196F5A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323" y="933809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4363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54C9-957E-08D0-497A-D4E7854B0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Antennas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0302D-89DF-B65D-622B-B0FD5EEF31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62268" cy="4351338"/>
          </a:xfrm>
        </p:spPr>
        <p:txBody>
          <a:bodyPr/>
          <a:lstStyle/>
          <a:p>
            <a:r>
              <a:rPr lang="en-US" dirty="0"/>
              <a:t>Make sure antennas are aligned</a:t>
            </a:r>
          </a:p>
          <a:p>
            <a:r>
              <a:rPr lang="en-US" dirty="0"/>
              <a:t>Check antenna datasheets and make sure they are compatible with your </a:t>
            </a:r>
            <a:r>
              <a:rPr lang="en-US" dirty="0" err="1"/>
              <a:t>tx</a:t>
            </a:r>
            <a:r>
              <a:rPr lang="en-US" dirty="0"/>
              <a:t> frequency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EC5783-3383-6660-E09D-DCAF8ED17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687" y="365125"/>
            <a:ext cx="5614871" cy="60384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39EF7A-C168-D06E-D2D1-75C0FFA0F5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829" y="3679165"/>
            <a:ext cx="4188259" cy="302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7181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86631-EB94-B17A-1EB6-1C91F4AC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6CA32-B6AA-4C8B-D8FB-30097F821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characterization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5031F-51AB-882A-DB51-9DF1752D1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16033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8 inch antenna</a:t>
            </a:r>
          </a:p>
          <a:p>
            <a:r>
              <a:rPr lang="en-US" dirty="0"/>
              <a:t>2 meter distance</a:t>
            </a:r>
          </a:p>
          <a:p>
            <a:r>
              <a:rPr lang="en-US" dirty="0"/>
              <a:t>915 MHz</a:t>
            </a:r>
          </a:p>
          <a:p>
            <a:r>
              <a:rPr lang="en-US" dirty="0"/>
              <a:t>Far field measurement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5CEE0B-EE1B-AD40-B165-001B72E3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73" y="3424423"/>
            <a:ext cx="3701487" cy="3258060"/>
          </a:xfrm>
          <a:prstGeom prst="rect">
            <a:avLst/>
          </a:prstGeom>
        </p:spPr>
      </p:pic>
      <p:pic>
        <p:nvPicPr>
          <p:cNvPr id="1026" name="Picture 2" descr="APrP3qHeTStr0PHHQ9Nf-uCnJ-Loa_kuCha7an0VuorK8i8LdFIoPyKi784Y4L_A8qGWCk7QJlTFoqBJmlL5IXzSlZKyWJNnT_dLIrOYskbZdqCChsADF77y09TkXPLple0b0fpK1G7_JcMgHsFhSXTsV-Rn6M4EYiNt3EF04LLrzoe4yLniSrRO-qm7P39ZaaumcFsGtiL1w8e26rNwRdIJIcKSp2r8Y6QvDBMItyiclQ0KPUN1Sa9kgdS24s0k-HsrQdlJu4Cp5EdFvhl4_gUAE15u2_yPnqtYrgyUoTPzggWiVoKnwDUJWIXBiyXqShOSqtQRq1piQP-s9Me8yCHMyAl0F98PK2PdyB-ZWnxCQYJT4bO0U21RuEpIGsJBorA4Bh7eFjUD4X6K4Tgxns9E55ygOFyQC0F61YpLQ7iHg_RgyoSgGNes4OVUT8TO-74bd28FV3NmUd-rThUvdD3al1xe-5ke-j15dyHf2i2Q4eLgPzI6m5n_q2Aw3xg_eWDO6rdIPDPNd-5MuPnGtlFLbaHYGpRn3lT1UgKNswL5typcVXyDpqjXwEd5_j6vNlc6XWy7ba8UBj6iyPtTYRR7CYh3xuiXt4E4TPY35U76JO8xzXZt-gsZ7WTkV8EHnXDpn7h6ipKQet92ylBktIuEUfZjV7iQhC0OJF21nCUX2tz9y9vuSYaVANLg4CClRany2j-a-5xWuBfGSjBZoMeMBqvGhy_NSw-PU4khpzOPl3M4f-Oeiu1XwdaibnNt2ynXXPEn3IO26H1pYlY9lJDG9OvDl4HM2XWF00Fzt0etuZxJ8LPMTpM--ZZGx-awnfrn2w6qdCsaetuH6Vtdc4Nztf7MXbOO342btSZIaEd9OIXjABLHEOCgkGig28DoJwyvlv2LUkZRokrcX-o_ATulKwKpHQ6VG97j69S1Ppr3iqT5GA3xZP3elH_VjiAML5Bb5o8_EVQwZS4xh6FHBX6BwFq_tQCNsfKPFgRktupzJLZvbWI7PIYvOeuPvZ0u-HWCNSnqeg8KsfpZyX07Eg=s0-l75-ft (3024×4032)">
            <a:extLst>
              <a:ext uri="{FF2B5EF4-FFF2-40B4-BE49-F238E27FC236}">
                <a16:creationId xmlns:a16="http://schemas.microsoft.com/office/drawing/2014/main" id="{EE5F0A74-17D4-0FBB-8BB8-A32489F804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1534" y="301560"/>
            <a:ext cx="4785692" cy="6380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31798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BFBA-DA1B-D14E-3166-61BC13EE6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472D-EFD6-6FC8-AFC5-E51073AD0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4C42-76BB-DCF8-940C-EF1218F67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our SNR vary with distance?</a:t>
            </a:r>
          </a:p>
          <a:p>
            <a:r>
              <a:rPr lang="en-US" dirty="0" err="1"/>
              <a:t>Friis</a:t>
            </a:r>
            <a:r>
              <a:rPr lang="en-US" dirty="0"/>
              <a:t>’ equation (far field)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D075B-FEEB-AF9B-5F89-69A347BB6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875" y="3029649"/>
            <a:ext cx="1959483" cy="79870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15EB4A-3D80-0CB8-C97B-BA513935C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291" y="2491817"/>
            <a:ext cx="5153744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4796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BA2A7-0D7C-4251-A221-467A44C4E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Receiver sensitivity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11320-E9BC-45E5-80AA-45B0633C9A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First, calculate the voltage seen at the ADC </a:t>
                </a:r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𝑎𝑑𝑐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𝑑𝑖𝑔𝑖𝑡𝑎𝑙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𝑜𝑢𝑡𝑝𝑢𝑡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∗2/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Measured gain from antenna to </a:t>
                </a:r>
                <a:r>
                  <a:rPr lang="en-US" dirty="0" err="1"/>
                  <a:t>adc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𝑎𝑛𝑡𝑒𝑛𝑛𝑎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𝑎𝑑𝑐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/>
                        <m:t>−41.8121</m:t>
                      </m:r>
                      <m:r>
                        <m:rPr>
                          <m:nor/>
                        </m:rPr>
                        <a:rPr lang="en-US" b="0" i="0" smtClean="0"/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𝑑𝑏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Convert to power using 50 Ohm resistor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𝑎𝑛𝑡𝑒𝑛𝑛𝑎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𝑎𝑑𝑐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−41.8−10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𝑑𝐵𝑚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)=20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sub>
                          </m:sSub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−137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𝑑𝐵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C11320-E9BC-45E5-80AA-45B0633C9A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217" t="-3081" b="-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87246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31F61-DDEC-47C5-B438-39C767963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Flicker noise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2B2F6-B21B-4B17-961E-35F4FD7531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4919133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Flicker noise is colored noise around DC. This forces us to receive signals at a digital IF frequency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𝐼𝐹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en-US" dirty="0"/>
                  <a:t>595.3 kHz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𝑓𝑙𝑖𝑐𝑘𝑒𝑟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𝑐𝑜𝑟𝑛𝑒𝑟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=100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𝑘𝐻𝑧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Peak flicker is around 3dB higher than noise floor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22B2F6-B21B-4B17-961E-35F4FD7531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4919133" cy="4351338"/>
              </a:xfrm>
              <a:blipFill>
                <a:blip r:embed="rId2"/>
                <a:stretch>
                  <a:fillRect l="-2605" t="-2241" r="-35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C79CC37-9EB1-49AA-A281-198A42A79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43755"/>
            <a:ext cx="6343900" cy="37977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7306A6-8B52-4C5F-984A-D70B2C4CE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7950" y="116536"/>
            <a:ext cx="2818131" cy="25786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C3DBF0-37DC-4668-8319-7A7B9A5233E9}"/>
              </a:ext>
            </a:extLst>
          </p:cNvPr>
          <p:cNvSpPr txBox="1"/>
          <p:nvPr/>
        </p:nvSpPr>
        <p:spPr>
          <a:xfrm>
            <a:off x="6096000" y="2082800"/>
            <a:ext cx="32681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Matched filter frequency response (after IF </a:t>
            </a:r>
            <a:r>
              <a:rPr lang="en-US" dirty="0" err="1"/>
              <a:t>downconversion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71350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BA07A-7B81-43FC-97FB-BE0D551E4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IF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2004D-5404-4589-8365-CD29FE217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0872" cy="4351338"/>
          </a:xfrm>
        </p:spPr>
        <p:txBody>
          <a:bodyPr/>
          <a:lstStyle/>
          <a:p>
            <a:r>
              <a:rPr lang="en-US" dirty="0"/>
              <a:t>Flicker corner frequency around 100 kHz</a:t>
            </a:r>
          </a:p>
          <a:p>
            <a:r>
              <a:rPr lang="en-US" dirty="0"/>
              <a:t>Choose a low IF frequency above 400 kHz</a:t>
            </a:r>
          </a:p>
          <a:p>
            <a:r>
              <a:rPr lang="en-US" dirty="0"/>
              <a:t>Single sided </a:t>
            </a:r>
            <a:r>
              <a:rPr lang="en-US" dirty="0" err="1"/>
              <a:t>signalling</a:t>
            </a:r>
            <a:r>
              <a:rPr lang="en-US" dirty="0"/>
              <a:t> requires transmitting a complex exponential</a:t>
            </a:r>
          </a:p>
        </p:txBody>
      </p:sp>
      <p:pic>
        <p:nvPicPr>
          <p:cNvPr id="1025" name="Picture 1" descr="ft Spectrum of captured samples &#10;70 &#10;10 &#10;2.5 &#10;3.5 &#10;4.5 &#10;5.5 ">
            <a:extLst>
              <a:ext uri="{FF2B5EF4-FFF2-40B4-BE49-F238E27FC236}">
                <a16:creationId xmlns:a16="http://schemas.microsoft.com/office/drawing/2014/main" id="{CDB17CE8-704E-4FB0-8397-A468646BB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1893" y="471181"/>
            <a:ext cx="5219700" cy="394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0F14A811-54F9-4C51-B26E-510913511F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4523E4-8A11-4A6E-ACC4-5C7F51DFCE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FABAA3CC-A748-402C-ACEB-A79EB4185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AA313F19-6F0E-49A6-A4DF-A3BF604749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A45CD83-B9B3-4F5C-8973-3894846FB0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113B4125-2AE2-4687-A444-397A764D30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A39E82E4-51CC-4999-86C9-8FC1446FE7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2AF461D1-7922-43DA-9F57-F0EE35B23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EFA4F523-7603-43CA-9061-5DC3D56C58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199EC674-ED02-4C54-A361-79DF1B01E1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E4E47C76-403B-4E8E-BB88-D6B43D384D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160502F5-78E1-43CF-8AA4-493CE8F77E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E1F65D5E-5DB5-4DF9-8A7E-B7A1D5B8CF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4BD2B9B3-7934-418E-8CAB-C75175304A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6EF0AB2C-1C48-442C-B134-C71DE8F90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32C30386-7C27-4908-B11E-28A1473085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B7E725C0-F849-468D-9F02-13EFB80368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39C39E3A-A45B-465A-9C03-EB0A145C29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9BCADA74-EA7C-45F8-B5BE-6E0A89F29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9A2925BD-327B-453C-A4BE-E2CC9ECC2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027B625E-4C5D-4DE5-AB5E-FAE7AF895A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EE629351-D6B9-466A-8907-B337C4C71C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8E5333D4-93F4-4D83-A050-5114281230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A46755E-A01D-491F-8C50-FCFE6EE681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2006367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0824F11-50F1-4CC4-8D66-94ED4A96FC49}"/>
              </a:ext>
            </a:extLst>
          </p:cNvPr>
          <p:cNvSpPr/>
          <p:nvPr/>
        </p:nvSpPr>
        <p:spPr>
          <a:xfrm>
            <a:off x="10256765" y="1188066"/>
            <a:ext cx="847288" cy="805343"/>
          </a:xfrm>
          <a:prstGeom prst="ellipse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AD58D77-9A45-49FD-998E-C45E64A504D1}"/>
              </a:ext>
            </a:extLst>
          </p:cNvPr>
          <p:cNvCxnSpPr>
            <a:cxnSpLocks/>
          </p:cNvCxnSpPr>
          <p:nvPr/>
        </p:nvCxnSpPr>
        <p:spPr>
          <a:xfrm>
            <a:off x="6266576" y="1188066"/>
            <a:ext cx="3990189" cy="330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C13CF3D-2D6C-4869-9225-6F89BE529C36}"/>
              </a:ext>
            </a:extLst>
          </p:cNvPr>
          <p:cNvSpPr txBox="1"/>
          <p:nvPr/>
        </p:nvSpPr>
        <p:spPr>
          <a:xfrm>
            <a:off x="4903015" y="541735"/>
            <a:ext cx="2385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Flicker Corner Frequency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8D3BFCC-158D-4CBC-AD0E-1EDFC94EA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5" y="5121109"/>
            <a:ext cx="7220958" cy="119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9678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D7F5B4A-2EB8-4C61-BD5E-4AA239210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 offset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D4F595E-DEAD-473E-B678-154D5DFDC5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−20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Idea: change alpha so that roll off is faster</a:t>
                </a:r>
              </a:p>
              <a:p>
                <a:pPr marL="0" indent="0">
                  <a:buNone/>
                </a:pPr>
                <a:r>
                  <a:rPr lang="en-US" dirty="0">
                    <a:hlinkClick r:id="rId2"/>
                  </a:rPr>
                  <a:t>https://github.com/Wangstonn/ww_uhd/blob/master/fpga/usrp3/lib/dsp/rx_dcoffset.v#L54</a:t>
                </a:r>
                <a:r>
                  <a:rPr lang="en-US" dirty="0"/>
                  <a:t>  </a:t>
                </a:r>
              </a:p>
              <a:p>
                <a:pPr marL="0" indent="0">
                  <a:buNone/>
                </a:pPr>
                <a:r>
                  <a:rPr lang="en-US" dirty="0">
                    <a:hlinkClick r:id="rId3"/>
                  </a:rPr>
                  <a:t>https://files.ettus.com/manual/page_calibration.html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hlinkClick r:id="rId4"/>
                  </a:rPr>
                  <a:t>https://files.ettus.com/manual/classuhd_1_1usrp_1_1multi__usrp.html#a7beb49c1a04a81b3e7569db482453746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D4F595E-DEAD-473E-B678-154D5DFDC5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043" r="-464" b="-5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FFE14E7D-87D7-4EEC-977E-B48B4090E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9735" y="3269377"/>
            <a:ext cx="4444998" cy="34211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07BF2A-8BB8-471D-87B1-B894BBCE9A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13276" y="147765"/>
            <a:ext cx="4074804" cy="3085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0986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C7B0F-CF77-4A87-B2DB-AB5425767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Gain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9CB17-1DD9-4691-97D5-ABE2A8900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Increasing </a:t>
            </a:r>
            <a:r>
              <a:rPr lang="en-US" dirty="0" err="1"/>
              <a:t>rx</a:t>
            </a:r>
            <a:r>
              <a:rPr lang="en-US" dirty="0"/>
              <a:t> gain will not increase the measured noise and signal equally. This is because at low </a:t>
            </a:r>
            <a:r>
              <a:rPr lang="en-US" dirty="0" err="1"/>
              <a:t>rx</a:t>
            </a:r>
            <a:r>
              <a:rPr lang="en-US" dirty="0"/>
              <a:t>-gain, the noise is dominated by the noise figure at the output of the LNA. As </a:t>
            </a:r>
            <a:r>
              <a:rPr lang="en-US" dirty="0" err="1"/>
              <a:t>rx</a:t>
            </a:r>
            <a:r>
              <a:rPr lang="en-US" dirty="0"/>
              <a:t>-gain rises, eventually received noise dominates.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A9A520-071A-4F5D-90F6-3996D87CC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3271240"/>
            <a:ext cx="4372264" cy="3387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5449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E4B47-DF75-4C60-B62F-B8CA2086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24E95-293D-46AE-BFE9-E660D97F1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https://www.youtube.com/watch?v=6TOU0f039g8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https://files.ettus.com/manual/page_sync.html</a:t>
            </a:r>
            <a:r>
              <a:rPr lang="en-US" dirty="0"/>
              <a:t> </a:t>
            </a:r>
          </a:p>
          <a:p>
            <a:r>
              <a:rPr lang="en-US" dirty="0">
                <a:hlinkClick r:id="rId4"/>
              </a:rPr>
              <a:t>https://www.mail-archive.com/usrp-users@lists.ettus.com/msg14581.html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69389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A6DA9-9A1B-4B6C-9276-E41C443ED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RFNOC library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6D7EF-1D02-4C47-B3EC-A280514ADF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/</a:t>
            </a:r>
            <a:r>
              <a:rPr lang="en-US" dirty="0" err="1"/>
              <a:t>afs</a:t>
            </a:r>
            <a:r>
              <a:rPr lang="en-US" dirty="0"/>
              <a:t>/eecs.umich.edu/</a:t>
            </a:r>
            <a:r>
              <a:rPr lang="en-US" dirty="0" err="1"/>
              <a:t>spvlsi</a:t>
            </a:r>
            <a:r>
              <a:rPr lang="en-US" dirty="0"/>
              <a:t>/users/</a:t>
            </a:r>
            <a:r>
              <a:rPr lang="en-US" dirty="0" err="1"/>
              <a:t>wangston</a:t>
            </a:r>
            <a:r>
              <a:rPr lang="en-US" dirty="0"/>
              <a:t>/OSLA/</a:t>
            </a:r>
            <a:r>
              <a:rPr lang="en-US" dirty="0" err="1"/>
              <a:t>bpsk</a:t>
            </a:r>
            <a:r>
              <a:rPr lang="en-US" dirty="0"/>
              <a:t>/</a:t>
            </a:r>
            <a:r>
              <a:rPr lang="en-US" dirty="0" err="1"/>
              <a:t>ww_uhd</a:t>
            </a:r>
            <a:r>
              <a:rPr lang="en-US" dirty="0"/>
              <a:t>/</a:t>
            </a:r>
            <a:r>
              <a:rPr lang="en-US" dirty="0" err="1"/>
              <a:t>fpga</a:t>
            </a:r>
            <a:r>
              <a:rPr lang="en-US" dirty="0"/>
              <a:t>/usrp3/lib/</a:t>
            </a:r>
            <a:r>
              <a:rPr lang="en-US" dirty="0" err="1"/>
              <a:t>rfnoc</a:t>
            </a:r>
            <a:r>
              <a:rPr lang="en-US" dirty="0"/>
              <a:t>/moving_sum.v:8</a:t>
            </a:r>
          </a:p>
        </p:txBody>
      </p:sp>
    </p:spTree>
    <p:extLst>
      <p:ext uri="{BB962C8B-B14F-4D97-AF65-F5344CB8AC3E}">
        <p14:creationId xmlns:p14="http://schemas.microsoft.com/office/powerpoint/2010/main" val="295845202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0B9E5-3894-4669-BEF0-62F0D30C1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USRP settings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7B0EF-3635-47A4-B427-2F5E683DE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https://files.ettus.com/manual/classuhd_1_1usrp_1_1multi__usrp.html#a41cc3c774451d0a2c5f69cd8df0f9f06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>
                <a:hlinkClick r:id="rId3"/>
              </a:rPr>
              <a:t>https://files.ettus.com/manual/page_dboards.html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Daughterboard setting limits</a:t>
            </a:r>
          </a:p>
        </p:txBody>
      </p:sp>
    </p:spTree>
    <p:extLst>
      <p:ext uri="{BB962C8B-B14F-4D97-AF65-F5344CB8AC3E}">
        <p14:creationId xmlns:p14="http://schemas.microsoft.com/office/powerpoint/2010/main" val="117405882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1D859-9488-4143-BBA1-B538C9FB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RF tuning and front end settling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8E38B-F9F5-4FCC-BE8F-1FD92DEB5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https://files.ettus.com/manual/page_general.html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340596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B6AB5-34C2-F809-D2F6-B8B873B88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USRP </a:t>
            </a:r>
            <a:r>
              <a:rPr lang="en-US" dirty="0" err="1"/>
              <a:t>c++</a:t>
            </a:r>
            <a:r>
              <a:rPr lang="en-US" dirty="0"/>
              <a:t>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24664-3E5B-9BA7-8B0B-C064B43B2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https://files.ettus.com/manual/classuhd_1_1usrp_1_1multi__usrp.html#a38b10a6bd2128b3810da229c60b31aa1</a:t>
            </a:r>
            <a:endParaRPr lang="en-US" dirty="0"/>
          </a:p>
          <a:p>
            <a:r>
              <a:rPr lang="en-US" dirty="0"/>
              <a:t>https://files.ettus.com/manual/page_configuration.html</a:t>
            </a:r>
          </a:p>
        </p:txBody>
      </p:sp>
    </p:spTree>
    <p:extLst>
      <p:ext uri="{BB962C8B-B14F-4D97-AF65-F5344CB8AC3E}">
        <p14:creationId xmlns:p14="http://schemas.microsoft.com/office/powerpoint/2010/main" val="6851946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EBC56-563E-40DA-85AB-6A8896448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Commanding the USRP’s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AA8DB-7464-4FB2-BE9D-361F540DC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https://files.ettus.com/manual/page_usrp_x3x0.html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8070794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C23B-1247-88EB-CACF-4EA658112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Loopback params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D9C7F-8289-2787-26A9-FA3470CF4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Loopback, 8 inch wire, 30dB attenuator (</a:t>
            </a:r>
            <a:r>
              <a:rPr lang="en-US" dirty="0" err="1"/>
              <a:t>tx</a:t>
            </a:r>
            <a:r>
              <a:rPr lang="en-US" dirty="0"/>
              <a:t>/</a:t>
            </a:r>
            <a:r>
              <a:rPr lang="en-US" dirty="0" err="1"/>
              <a:t>rx</a:t>
            </a:r>
            <a:r>
              <a:rPr lang="en-US" dirty="0"/>
              <a:t> gain = 0)</a:t>
            </a:r>
          </a:p>
          <a:p>
            <a:pPr marL="0" indent="0">
              <a:buNone/>
            </a:pPr>
            <a:r>
              <a:rPr lang="nb-NO" dirty="0"/>
              <a:t>Setting TX Freq: 2400.000000 MHz..</a:t>
            </a:r>
            <a:endParaRPr lang="en-US" dirty="0"/>
          </a:p>
          <a:p>
            <a:pPr marL="0" indent="0">
              <a:buNone/>
            </a:pPr>
            <a:r>
              <a:rPr lang="de-DE" dirty="0"/>
              <a:t>D_hat= 119, EsN0= 14.8833, h_hat : abs= 0.439122 arg= 3.12618</a:t>
            </a:r>
          </a:p>
          <a:p>
            <a:pPr marL="0" indent="0">
              <a:buNone/>
            </a:pPr>
            <a:r>
              <a:rPr lang="de-DE" dirty="0"/>
              <a:t>Attenuators dont affect delay</a:t>
            </a:r>
          </a:p>
          <a:p>
            <a:pPr marL="0" indent="0">
              <a:buNone/>
            </a:pPr>
            <a:r>
              <a:rPr lang="de-DE" dirty="0"/>
              <a:t>rx/tx gain dont affect delay</a:t>
            </a:r>
          </a:p>
          <a:p>
            <a:pPr marL="0" indent="0">
              <a:buNone/>
            </a:pPr>
            <a:r>
              <a:rPr lang="de-DE" dirty="0"/>
              <a:t> freq doesnt affect delay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16303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DB7C2-72CC-4CB8-F6B1-A36EA5A2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gpio</a:t>
            </a:r>
            <a:r>
              <a:rPr lang="en-US" dirty="0"/>
              <a:t> regs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F57EC-E1A6-A9F8-1035-27D042B82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https://www.youtube.com/watch?v=ppD06ZETnek</a:t>
            </a:r>
            <a:endParaRPr lang="en-US" dirty="0"/>
          </a:p>
          <a:p>
            <a:r>
              <a:rPr lang="en-US">
                <a:hlinkClick r:id="rId3"/>
              </a:rPr>
              <a:t>https://events.gnuradio.org/event/18/contributions/234/attachments/74/186/GPIOs%20on%20USRPs.pdf</a:t>
            </a:r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77997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27D09-DFF1-1FDC-FB0E-9AC397445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useful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4288F-A9A8-99A3-E9D8-4A490850C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https://www.youtube.com/watch?app=desktop&amp;v=PNMOwhEHE6w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https://www.youtube.com/watch?v=wqKNUXDdIvU&amp;t=1811s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>
                <a:hlinkClick r:id="rId4"/>
              </a:rPr>
              <a:t>https://en.wikipedia.org/wiki/Stochastic_resonance</a:t>
            </a:r>
            <a:r>
              <a:rPr lang="en-US" dirty="0"/>
              <a:t> </a:t>
            </a:r>
          </a:p>
          <a:p>
            <a:r>
              <a:rPr lang="en-US" dirty="0">
                <a:hlinkClick r:id="rId5"/>
              </a:rPr>
              <a:t>https://www.youtube.com/watch?v=FxciG7nW-J0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573729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0D84B-7064-96C9-54AD-7EE2E9DFD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Nonideality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BC283-D191-0CB8-C67F-64BA70607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fe_control</a:t>
            </a:r>
            <a:r>
              <a:rPr lang="en-US" dirty="0"/>
              <a:t> sits between x300 and </a:t>
            </a:r>
            <a:r>
              <a:rPr lang="en-US" dirty="0" err="1"/>
              <a:t>adc</a:t>
            </a:r>
            <a:r>
              <a:rPr lang="en-US" dirty="0"/>
              <a:t> (CHECK)</a:t>
            </a:r>
          </a:p>
          <a:p>
            <a:r>
              <a:rPr lang="en-US" dirty="0">
                <a:hlinkClick r:id="rId2"/>
              </a:rPr>
              <a:t>https://github.com/Wangstonn/ww_uhd/blob/master/fpga/usrp3/lib/control/fe_control.v#L14</a:t>
            </a:r>
            <a:endParaRPr lang="en-US" dirty="0"/>
          </a:p>
          <a:p>
            <a:r>
              <a:rPr lang="en-US" dirty="0"/>
              <a:t>Performs DC offset correction,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>
                <a:hlinkClick r:id="rId3"/>
              </a:rPr>
              <a:t>https://github.com/Wangstonn/ww_uhd/blob/master/fpga/usrp3/lib/rfnoc/blocks/rfnoc_block_radio/tx_frontend_gen3.v#L8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5059910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A704D-EE47-D3EC-C7F0-B8E06F740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 advice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94319-EF79-8A47-0208-AA5658E03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(* </a:t>
            </a:r>
            <a:r>
              <a:rPr lang="en-US" dirty="0" err="1"/>
              <a:t>dont_touch</a:t>
            </a:r>
            <a:r>
              <a:rPr lang="en-US" dirty="0"/>
              <a:t> = "true" , </a:t>
            </a:r>
            <a:r>
              <a:rPr lang="en-US" dirty="0" err="1"/>
              <a:t>mark_debug</a:t>
            </a:r>
            <a:r>
              <a:rPr lang="en-US" dirty="0"/>
              <a:t> = "true" *) logic </a:t>
            </a:r>
            <a:r>
              <a:rPr lang="en-US" dirty="0" err="1"/>
              <a:t>fb_o_ctr_r</a:t>
            </a:r>
            <a:endParaRPr lang="en-US" dirty="0"/>
          </a:p>
          <a:p>
            <a:r>
              <a:rPr lang="en-US" dirty="0"/>
              <a:t>(* DONT_TOUCH = "yes" *) </a:t>
            </a:r>
            <a:r>
              <a:rPr lang="en-US" dirty="0" err="1"/>
              <a:t>dest</a:t>
            </a:r>
            <a:r>
              <a:rPr lang="en-US" dirty="0"/>
              <a:t> </a:t>
            </a:r>
            <a:r>
              <a:rPr lang="en-US" dirty="0" err="1"/>
              <a:t>dest_dut</a:t>
            </a:r>
            <a:r>
              <a:rPr lang="en-US" dirty="0"/>
              <a:t>( )</a:t>
            </a:r>
          </a:p>
        </p:txBody>
      </p:sp>
    </p:spTree>
    <p:extLst>
      <p:ext uri="{BB962C8B-B14F-4D97-AF65-F5344CB8AC3E}">
        <p14:creationId xmlns:p14="http://schemas.microsoft.com/office/powerpoint/2010/main" val="72646742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AD428-A744-4050-8684-97552BCAB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Frequency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4998C-4FF6-440F-9119-0BAF40941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https://files.ettus.com/manual/page_general.html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6715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244576</TotalTime>
  <Words>5946</Words>
  <Application>Microsoft Office PowerPoint</Application>
  <PresentationFormat>Widescreen</PresentationFormat>
  <Paragraphs>556</Paragraphs>
  <Slides>82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8" baseType="lpstr">
      <vt:lpstr>Arial</vt:lpstr>
      <vt:lpstr>Calibri</vt:lpstr>
      <vt:lpstr>Calibri Light</vt:lpstr>
      <vt:lpstr>Cambria Math</vt:lpstr>
      <vt:lpstr>Segoe UI</vt:lpstr>
      <vt:lpstr>Office Theme</vt:lpstr>
      <vt:lpstr>Custom HDL for USRP Prototyping</vt:lpstr>
      <vt:lpstr>So what are USRP’s?</vt:lpstr>
      <vt:lpstr>So why work at the HDL level?</vt:lpstr>
      <vt:lpstr>How does RFNOC work?</vt:lpstr>
      <vt:lpstr>Custom RFNOC?</vt:lpstr>
      <vt:lpstr>What we want</vt:lpstr>
      <vt:lpstr>Towards our AFE + DC + FPGA goal</vt:lpstr>
      <vt:lpstr>What is UHD?</vt:lpstr>
      <vt:lpstr>Step one: understanding the USRP architecture</vt:lpstr>
      <vt:lpstr>Daughterboards</vt:lpstr>
      <vt:lpstr>Bandwidth</vt:lpstr>
      <vt:lpstr>About frequencies</vt:lpstr>
      <vt:lpstr>Safety</vt:lpstr>
      <vt:lpstr>GPIO</vt:lpstr>
      <vt:lpstr>GPIO safety</vt:lpstr>
      <vt:lpstr>Verilog reminder</vt:lpstr>
      <vt:lpstr>Streaming</vt:lpstr>
      <vt:lpstr>Useful references</vt:lpstr>
      <vt:lpstr>Project setup</vt:lpstr>
      <vt:lpstr>Putty settings</vt:lpstr>
      <vt:lpstr>vlsipool</vt:lpstr>
      <vt:lpstr>Github</vt:lpstr>
      <vt:lpstr>Vivado</vt:lpstr>
      <vt:lpstr>Vivado Project</vt:lpstr>
      <vt:lpstr>Verilog file structure</vt:lpstr>
      <vt:lpstr>rtl/Sources</vt:lpstr>
      <vt:lpstr>Avoiding big file commits</vt:lpstr>
      <vt:lpstr>Notes</vt:lpstr>
      <vt:lpstr>Multiplication</vt:lpstr>
      <vt:lpstr>PowerPoint Presentation</vt:lpstr>
      <vt:lpstr>Signed unsigned multiplication</vt:lpstr>
      <vt:lpstr>PowerPoint Presentation</vt:lpstr>
      <vt:lpstr>Fixed point operations</vt:lpstr>
      <vt:lpstr>Some Verilog advice</vt:lpstr>
      <vt:lpstr>Matlab sim</vt:lpstr>
      <vt:lpstr>Testbench</vt:lpstr>
      <vt:lpstr>Simulation halting</vt:lpstr>
      <vt:lpstr>IP blocks</vt:lpstr>
      <vt:lpstr>Memory</vt:lpstr>
      <vt:lpstr>Direct Digital Synthesis</vt:lpstr>
      <vt:lpstr>Now add UHD</vt:lpstr>
      <vt:lpstr>UHD git setup continued</vt:lpstr>
      <vt:lpstr>Installing UHD to host computers (HSK laptops only)</vt:lpstr>
      <vt:lpstr>Custom UHD installs</vt:lpstr>
      <vt:lpstr>Ethernet connection (HSK laptops)</vt:lpstr>
      <vt:lpstr>Repo overview</vt:lpstr>
      <vt:lpstr>Cherry-picking </vt:lpstr>
      <vt:lpstr>Preface</vt:lpstr>
      <vt:lpstr>HDL Makefile setup</vt:lpstr>
      <vt:lpstr>Compilation/bitfile generation</vt:lpstr>
      <vt:lpstr>Structuring a C++ project</vt:lpstr>
      <vt:lpstr>Header file</vt:lpstr>
      <vt:lpstr>CMake</vt:lpstr>
      <vt:lpstr>CMakeLists.txt files</vt:lpstr>
      <vt:lpstr>CMake function overview</vt:lpstr>
      <vt:lpstr>CMake config</vt:lpstr>
      <vt:lpstr>USRP CPP code build</vt:lpstr>
      <vt:lpstr>GNU Radio</vt:lpstr>
      <vt:lpstr>Custom Modules</vt:lpstr>
      <vt:lpstr>Embedded Python Blocks</vt:lpstr>
      <vt:lpstr>USRP Processing Delay</vt:lpstr>
      <vt:lpstr>USRP Processing Delay</vt:lpstr>
      <vt:lpstr>Antennas</vt:lpstr>
      <vt:lpstr>Channel characterization</vt:lpstr>
      <vt:lpstr>Range</vt:lpstr>
      <vt:lpstr>Receiver sensitivity</vt:lpstr>
      <vt:lpstr>Flicker noise</vt:lpstr>
      <vt:lpstr>Low IF design</vt:lpstr>
      <vt:lpstr>DC offset</vt:lpstr>
      <vt:lpstr>Gain control</vt:lpstr>
      <vt:lpstr>Synchronization</vt:lpstr>
      <vt:lpstr>RFNOC library</vt:lpstr>
      <vt:lpstr>Useful USRP settings</vt:lpstr>
      <vt:lpstr>RF tuning and front end settling time</vt:lpstr>
      <vt:lpstr>Working with USRP c++ code</vt:lpstr>
      <vt:lpstr>Commanding the USRP’s</vt:lpstr>
      <vt:lpstr>Loopback params</vt:lpstr>
      <vt:lpstr>gpio regs</vt:lpstr>
      <vt:lpstr>General useful information</vt:lpstr>
      <vt:lpstr>Nonideality correction</vt:lpstr>
      <vt:lpstr>Debug advice</vt:lpstr>
      <vt:lpstr>Frequency 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Wang, Winston</dc:creator>
  <cp:lastModifiedBy>Wang, Winston</cp:lastModifiedBy>
  <cp:revision>96</cp:revision>
  <dcterms:created xsi:type="dcterms:W3CDTF">2023-10-27T14:03:06Z</dcterms:created>
  <dcterms:modified xsi:type="dcterms:W3CDTF">2025-07-11T19:12:46Z</dcterms:modified>
</cp:coreProperties>
</file>